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530" r:id="rId5"/>
    <p:sldId id="531" r:id="rId6"/>
    <p:sldId id="533" r:id="rId7"/>
    <p:sldId id="534" r:id="rId8"/>
    <p:sldId id="548" r:id="rId9"/>
    <p:sldId id="555" r:id="rId10"/>
    <p:sldId id="556" r:id="rId11"/>
    <p:sldId id="539" r:id="rId12"/>
    <p:sldId id="551" r:id="rId13"/>
    <p:sldId id="537" r:id="rId14"/>
    <p:sldId id="546" r:id="rId15"/>
    <p:sldId id="549" r:id="rId16"/>
    <p:sldId id="545" r:id="rId17"/>
    <p:sldId id="553" r:id="rId18"/>
    <p:sldId id="552" r:id="rId19"/>
    <p:sldId id="543" r:id="rId20"/>
    <p:sldId id="554" r:id="rId21"/>
    <p:sldId id="54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422"/>
  </p:normalViewPr>
  <p:slideViewPr>
    <p:cSldViewPr snapToGrid="0">
      <p:cViewPr varScale="1">
        <p:scale>
          <a:sx n="102" d="100"/>
          <a:sy n="102" d="100"/>
        </p:scale>
        <p:origin x="138"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8/12/2026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err="1"/>
              <a:t>PortalHQ</a:t>
            </a:r>
            <a:r>
              <a:rPr lang="en-US" dirty="0"/>
              <a:t>:</a:t>
            </a:r>
            <a:br>
              <a:rPr lang="en-US" dirty="0"/>
            </a:br>
            <a:r>
              <a:rPr lang="en-US" dirty="0"/>
              <a:t>Client Portal OS</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a:xfrm>
            <a:off x="1135380" y="4171297"/>
            <a:ext cx="9921239" cy="758952"/>
          </a:xfrm>
        </p:spPr>
        <p:txBody>
          <a:bodyPr/>
          <a:lstStyle/>
          <a:p>
            <a:r>
              <a:rPr lang="en-GB" sz="2000" dirty="0"/>
              <a:t>A platform that helps businesses move work, clients, and operations forward smoothly.</a:t>
            </a:r>
            <a:endParaRPr lang="en-US" sz="2000" dirty="0"/>
          </a:p>
          <a:p>
            <a:endParaRPr lang="en-US" sz="2000" dirty="0"/>
          </a:p>
        </p:txBody>
      </p:sp>
      <p:pic>
        <p:nvPicPr>
          <p:cNvPr id="5" name="Graphic 4">
            <a:extLst>
              <a:ext uri="{FF2B5EF4-FFF2-40B4-BE49-F238E27FC236}">
                <a16:creationId xmlns:a16="http://schemas.microsoft.com/office/drawing/2014/main" id="{A3FE3D86-BE09-E5AC-AB44-6A01ACD8868B}"/>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03504" y="353922"/>
            <a:ext cx="5600700" cy="923925"/>
          </a:xfrm>
          <a:prstGeom prst="rect">
            <a:avLst/>
          </a:prstGeom>
        </p:spPr>
      </p:pic>
    </p:spTree>
    <p:extLst>
      <p:ext uri="{BB962C8B-B14F-4D97-AF65-F5344CB8AC3E}">
        <p14:creationId xmlns:p14="http://schemas.microsoft.com/office/powerpoint/2010/main" val="1723491119"/>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ctrTitle"/>
          </p:nvPr>
        </p:nvSpPr>
        <p:spPr>
          <a:xfrm>
            <a:off x="2212848" y="793894"/>
            <a:ext cx="7763256" cy="897092"/>
          </a:xfrm>
        </p:spPr>
        <p:txBody>
          <a:bodyPr>
            <a:normAutofit/>
          </a:bodyPr>
          <a:lstStyle/>
          <a:p>
            <a:r>
              <a:rPr lang="en-US" sz="4000" b="1" spc="600" dirty="0">
                <a:ln w="28575">
                  <a:noFill/>
                  <a:prstDash val="solid"/>
                </a:ln>
                <a:solidFill>
                  <a:schemeClr val="bg1"/>
                </a:solidFill>
                <a:latin typeface="Tw Cen MT" panose="020B0602020104020603" pitchFamily="34" charset="77"/>
              </a:rPr>
              <a:t>CONTENTS</a:t>
            </a:r>
            <a:endParaRPr lang="en-US" dirty="0"/>
          </a:p>
        </p:txBody>
      </p:sp>
      <p:sp>
        <p:nvSpPr>
          <p:cNvPr id="8" name="Subtitle 7">
            <a:extLst>
              <a:ext uri="{FF2B5EF4-FFF2-40B4-BE49-F238E27FC236}">
                <a16:creationId xmlns:a16="http://schemas.microsoft.com/office/drawing/2014/main" id="{2AD0A4C5-3ECC-0CAC-86F3-45A6907A3EC6}"/>
              </a:ext>
            </a:extLst>
          </p:cNvPr>
          <p:cNvSpPr>
            <a:spLocks noGrp="1"/>
          </p:cNvSpPr>
          <p:nvPr>
            <p:ph type="subTitle" idx="1"/>
          </p:nvPr>
        </p:nvSpPr>
        <p:spPr>
          <a:xfrm>
            <a:off x="1772303" y="1690986"/>
            <a:ext cx="4893673" cy="5386469"/>
          </a:xfrm>
        </p:spPr>
        <p:txBody>
          <a:bodyPr/>
          <a:lstStyle/>
          <a:p>
            <a:pPr marL="342900" indent="-342900" algn="l">
              <a:lnSpc>
                <a:spcPct val="150000"/>
              </a:lnSpc>
              <a:buClr>
                <a:schemeClr val="accent6"/>
              </a:buClr>
              <a:buFont typeface="Courier New" panose="02070309020205020404" pitchFamily="49" charset="0"/>
              <a:buChar char="o"/>
            </a:pPr>
            <a:r>
              <a:rPr lang="en-US" sz="2400" dirty="0">
                <a:solidFill>
                  <a:schemeClr val="bg1"/>
                </a:solidFill>
                <a:latin typeface="Segoe UI Light" panose="020B0502040204020203" pitchFamily="34" charset="0"/>
                <a:cs typeface="Segoe UI Light" panose="020B0502040204020203" pitchFamily="34" charset="0"/>
              </a:rPr>
              <a:t>Introduction</a:t>
            </a:r>
          </a:p>
          <a:p>
            <a:pPr marL="342900" indent="-342900" algn="l">
              <a:lnSpc>
                <a:spcPct val="150000"/>
              </a:lnSpc>
              <a:buClr>
                <a:schemeClr val="accent6"/>
              </a:buClr>
              <a:buFont typeface="Courier New" panose="02070309020205020404" pitchFamily="49" charset="0"/>
              <a:buChar char="o"/>
            </a:pPr>
            <a:r>
              <a:rPr lang="en-US" sz="2400" dirty="0">
                <a:latin typeface="Segoe UI Light" panose="020B0502040204020203" pitchFamily="34" charset="0"/>
                <a:cs typeface="Segoe UI Light" panose="020B0502040204020203" pitchFamily="34" charset="0"/>
              </a:rPr>
              <a:t>Problem Statement</a:t>
            </a:r>
            <a:endParaRPr lang="en-US" sz="2400"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sz="2400" dirty="0">
                <a:latin typeface="Segoe UI Light" panose="020B0502040204020203" pitchFamily="34" charset="0"/>
                <a:cs typeface="Segoe UI Light" panose="020B0502040204020203" pitchFamily="34" charset="0"/>
              </a:rPr>
              <a:t>System Objectives</a:t>
            </a:r>
            <a:endParaRPr lang="en-US" sz="2400"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sz="2400" dirty="0">
                <a:latin typeface="Segoe UI Light" panose="020B0502040204020203" pitchFamily="34" charset="0"/>
                <a:cs typeface="Segoe UI Light" panose="020B0502040204020203" pitchFamily="34" charset="0"/>
              </a:rPr>
              <a:t>Client Workspace Features</a:t>
            </a:r>
            <a:endParaRPr lang="en-US" sz="2400"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sz="2400" dirty="0">
                <a:solidFill>
                  <a:schemeClr val="bg1"/>
                </a:solidFill>
                <a:latin typeface="Segoe UI Light" panose="020B0502040204020203" pitchFamily="34" charset="0"/>
                <a:cs typeface="Segoe UI Light" panose="020B0502040204020203" pitchFamily="34" charset="0"/>
              </a:rPr>
              <a:t>Business Operation Features</a:t>
            </a:r>
          </a:p>
          <a:p>
            <a:pPr algn="l"/>
            <a:endParaRPr lang="en-US" dirty="0"/>
          </a:p>
        </p:txBody>
      </p:sp>
      <p:sp>
        <p:nvSpPr>
          <p:cNvPr id="9" name="Subtitle 7">
            <a:extLst>
              <a:ext uri="{FF2B5EF4-FFF2-40B4-BE49-F238E27FC236}">
                <a16:creationId xmlns:a16="http://schemas.microsoft.com/office/drawing/2014/main" id="{5A223A69-2A9A-7404-347E-28A1C25637F1}"/>
              </a:ext>
            </a:extLst>
          </p:cNvPr>
          <p:cNvSpPr txBox="1">
            <a:spLocks/>
          </p:cNvSpPr>
          <p:nvPr/>
        </p:nvSpPr>
        <p:spPr>
          <a:xfrm>
            <a:off x="7106521" y="1690987"/>
            <a:ext cx="4893673" cy="5386469"/>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lnSpc>
                <a:spcPct val="150000"/>
              </a:lnSpc>
              <a:buFont typeface="Courier New" panose="02070309020205020404" pitchFamily="49" charset="0"/>
              <a:buChar char="o"/>
            </a:pPr>
            <a:r>
              <a:rPr lang="en-US" sz="2400" dirty="0">
                <a:latin typeface="Segoe UI Light" panose="020B0502040204020203" pitchFamily="34" charset="0"/>
                <a:cs typeface="Segoe UI Light" panose="020B0502040204020203" pitchFamily="34" charset="0"/>
              </a:rPr>
              <a:t>Software Comparison</a:t>
            </a:r>
          </a:p>
          <a:p>
            <a:pPr marL="342900" indent="-342900" algn="l">
              <a:lnSpc>
                <a:spcPct val="150000"/>
              </a:lnSpc>
              <a:buFont typeface="Courier New" panose="02070309020205020404" pitchFamily="49" charset="0"/>
              <a:buChar char="o"/>
            </a:pPr>
            <a:r>
              <a:rPr lang="en-US" sz="2400" dirty="0">
                <a:latin typeface="Segoe UI Light" panose="020B0502040204020203" pitchFamily="34" charset="0"/>
                <a:cs typeface="Segoe UI Light" panose="020B0502040204020203" pitchFamily="34" charset="0"/>
              </a:rPr>
              <a:t>Technical Requirements</a:t>
            </a:r>
          </a:p>
          <a:p>
            <a:pPr marL="342900" indent="-342900" algn="l">
              <a:lnSpc>
                <a:spcPct val="150000"/>
              </a:lnSpc>
              <a:buFont typeface="Courier New" panose="02070309020205020404" pitchFamily="49" charset="0"/>
              <a:buChar char="o"/>
            </a:pPr>
            <a:r>
              <a:rPr lang="en-US" sz="2400" dirty="0">
                <a:latin typeface="Segoe UI Light" panose="020B0502040204020203" pitchFamily="34" charset="0"/>
                <a:cs typeface="Segoe UI Light" panose="020B0502040204020203" pitchFamily="34" charset="0"/>
              </a:rPr>
              <a:t>Summary</a:t>
            </a:r>
          </a:p>
          <a:p>
            <a:pPr marL="342900" indent="-342900" algn="l">
              <a:lnSpc>
                <a:spcPct val="150000"/>
              </a:lnSpc>
              <a:buFont typeface="Courier New" panose="02070309020205020404" pitchFamily="49" charset="0"/>
              <a:buChar char="o"/>
            </a:pPr>
            <a:r>
              <a:rPr lang="en-US" sz="2400" dirty="0">
                <a:latin typeface="Segoe UI Light" panose="020B0502040204020203" pitchFamily="34" charset="0"/>
                <a:cs typeface="Segoe UI Light" panose="020B0502040204020203" pitchFamily="34" charset="0"/>
              </a:rPr>
              <a:t>Reference</a:t>
            </a:r>
          </a:p>
          <a:p>
            <a:pPr marL="342900" indent="-342900" algn="l">
              <a:lnSpc>
                <a:spcPct val="150000"/>
              </a:lnSpc>
              <a:buFont typeface="Courier New" panose="02070309020205020404" pitchFamily="49" charset="0"/>
              <a:buChar char="o"/>
            </a:pPr>
            <a:r>
              <a:rPr lang="en-US" sz="2400" dirty="0">
                <a:latin typeface="Segoe UI Light" panose="020B0502040204020203" pitchFamily="34" charset="0"/>
                <a:cs typeface="Segoe UI Light" panose="020B0502040204020203" pitchFamily="34" charset="0"/>
              </a:rPr>
              <a:t>Outro</a:t>
            </a:r>
          </a:p>
          <a:p>
            <a:pPr algn="l"/>
            <a:endParaRPr lang="en-US" dirty="0"/>
          </a:p>
        </p:txBody>
      </p:sp>
    </p:spTree>
    <p:extLst>
      <p:ext uri="{BB962C8B-B14F-4D97-AF65-F5344CB8AC3E}">
        <p14:creationId xmlns:p14="http://schemas.microsoft.com/office/powerpoint/2010/main" val="3548027083"/>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dirty="0"/>
              <a:t>INTRODUCTION</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p:txBody>
          <a:bodyPr/>
          <a:lstStyle/>
          <a:p>
            <a:r>
              <a:rPr lang="en-US" dirty="0" err="1"/>
              <a:t>PortalHQ</a:t>
            </a:r>
            <a:r>
              <a:rPr lang="en-US" dirty="0"/>
              <a:t> is a B2B Client Portal and business platform which is designed for small and medium sized enterprises (SMEs). This platform provides a centralized digital workspace to manage client relations, communication, assets management, inventory movements and operational activities.</a:t>
            </a:r>
          </a:p>
          <a:p>
            <a:endParaRPr lang="en-US" dirty="0"/>
          </a:p>
        </p:txBody>
      </p:sp>
    </p:spTree>
    <p:extLst>
      <p:ext uri="{BB962C8B-B14F-4D97-AF65-F5344CB8AC3E}">
        <p14:creationId xmlns:p14="http://schemas.microsoft.com/office/powerpoint/2010/main" val="3380759881"/>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ctrTitle"/>
          </p:nvPr>
        </p:nvSpPr>
        <p:spPr/>
        <p:txBody>
          <a:bodyPr/>
          <a:lstStyle/>
          <a:p>
            <a:r>
              <a:rPr lang="en-US" dirty="0"/>
              <a:t>Why </a:t>
            </a:r>
            <a:r>
              <a:rPr lang="en-US" dirty="0" err="1"/>
              <a:t>PortalHQ</a:t>
            </a:r>
            <a:endParaRPr lang="en-US" dirty="0"/>
          </a:p>
        </p:txBody>
      </p:sp>
      <p:sp>
        <p:nvSpPr>
          <p:cNvPr id="3" name="Subtitle 2">
            <a:extLst>
              <a:ext uri="{FF2B5EF4-FFF2-40B4-BE49-F238E27FC236}">
                <a16:creationId xmlns:a16="http://schemas.microsoft.com/office/drawing/2014/main" id="{C05FF0B8-5B51-7376-0271-8D849CA3F8A8}"/>
              </a:ext>
            </a:extLst>
          </p:cNvPr>
          <p:cNvSpPr>
            <a:spLocks noGrp="1"/>
          </p:cNvSpPr>
          <p:nvPr>
            <p:ph type="subTitle" idx="1"/>
          </p:nvPr>
        </p:nvSpPr>
        <p:spPr>
          <a:xfrm>
            <a:off x="541673" y="3758185"/>
            <a:ext cx="11108654" cy="758952"/>
          </a:xfrm>
        </p:spPr>
        <p:txBody>
          <a:bodyPr/>
          <a:lstStyle/>
          <a:p>
            <a:r>
              <a:rPr lang="en-US" dirty="0"/>
              <a:t>A lots of SMEs manages client facing operations through disconnected tools. As a result information becomes fragmented, employees spend more time in searching and managing </a:t>
            </a:r>
            <a:r>
              <a:rPr lang="en-US" dirty="0" err="1"/>
              <a:t>infos</a:t>
            </a:r>
            <a:r>
              <a:rPr lang="en-US" dirty="0"/>
              <a:t>, clients repeatedly request for updates, assets are difficult to track and monitor as well as inventory movements with proper audit logs. So business accountability becomes difficult to establish in this growing market.</a:t>
            </a:r>
          </a:p>
        </p:txBody>
      </p:sp>
    </p:spTree>
    <p:extLst>
      <p:ext uri="{BB962C8B-B14F-4D97-AF65-F5344CB8AC3E}">
        <p14:creationId xmlns:p14="http://schemas.microsoft.com/office/powerpoint/2010/main" val="548476299"/>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1545663" y="403805"/>
            <a:ext cx="8878824" cy="1069848"/>
          </a:xfrm>
        </p:spPr>
        <p:txBody>
          <a:bodyPr>
            <a:normAutofit/>
          </a:bodyPr>
          <a:lstStyle/>
          <a:p>
            <a:r>
              <a:rPr lang="en-US" dirty="0">
                <a:ln w="28575">
                  <a:noFill/>
                  <a:prstDash val="solid"/>
                </a:ln>
                <a:latin typeface="Tw Cen MT" panose="020B0602020104020603" pitchFamily="34" charset="77"/>
              </a:rPr>
              <a:t>System Objectives</a:t>
            </a:r>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1545663" y="1661431"/>
            <a:ext cx="7811916" cy="3910693"/>
          </a:xfrm>
        </p:spPr>
        <p:txBody>
          <a:bodyPr/>
          <a:lstStyle/>
          <a:p>
            <a:pPr marL="0" indent="0" algn="l">
              <a:lnSpc>
                <a:spcPct val="150000"/>
              </a:lnSpc>
              <a:buClr>
                <a:schemeClr val="accent6"/>
              </a:buClr>
              <a:buNone/>
            </a:pPr>
            <a:r>
              <a:rPr lang="en-US" dirty="0">
                <a:latin typeface="Segoe UI Light" panose="020B0502040204020203" pitchFamily="34" charset="0"/>
                <a:cs typeface="Segoe UI Light" panose="020B0502040204020203" pitchFamily="34" charset="0"/>
              </a:rPr>
              <a:t>Our primary objectives are centralized SME client communication with digital portal to improve project and service visibility. Business documents, meeting notes with structured approval workflow. Manage support requests through tickets. Track assets and inventory movements with audit logs. Reduce dependency on fragmented tools as well as improved client transparency and accountability. </a:t>
            </a:r>
          </a:p>
        </p:txBody>
      </p:sp>
    </p:spTree>
    <p:extLst>
      <p:ext uri="{BB962C8B-B14F-4D97-AF65-F5344CB8AC3E}">
        <p14:creationId xmlns:p14="http://schemas.microsoft.com/office/powerpoint/2010/main" val="1351438274"/>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4454" y="835516"/>
            <a:ext cx="10881360" cy="1069848"/>
          </a:xfrm>
        </p:spPr>
        <p:txBody>
          <a:bodyPr/>
          <a:lstStyle/>
          <a:p>
            <a:r>
              <a:rPr lang="en-US" dirty="0" smtClean="0"/>
              <a:t>Who Uses </a:t>
            </a:r>
            <a:r>
              <a:rPr lang="en-US" dirty="0" err="1" smtClean="0"/>
              <a:t>Portalhq</a:t>
            </a:r>
            <a:endParaRPr lang="en-US" dirty="0"/>
          </a:p>
        </p:txBody>
      </p:sp>
      <p:sp>
        <p:nvSpPr>
          <p:cNvPr id="10" name="Title 1"/>
          <p:cNvSpPr txBox="1">
            <a:spLocks/>
          </p:cNvSpPr>
          <p:nvPr/>
        </p:nvSpPr>
        <p:spPr>
          <a:xfrm>
            <a:off x="1061514" y="2620357"/>
            <a:ext cx="7981817" cy="32099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a:lstStyle>
          <a:p>
            <a:endParaRPr lang="en-US" dirty="0"/>
          </a:p>
        </p:txBody>
      </p:sp>
      <p:sp>
        <p:nvSpPr>
          <p:cNvPr id="15" name="TextBox 14"/>
          <p:cNvSpPr txBox="1"/>
          <p:nvPr/>
        </p:nvSpPr>
        <p:spPr>
          <a:xfrm>
            <a:off x="1632204" y="2018163"/>
            <a:ext cx="6753136" cy="3262432"/>
          </a:xfrm>
          <a:prstGeom prst="rect">
            <a:avLst/>
          </a:prstGeom>
          <a:noFill/>
        </p:spPr>
        <p:txBody>
          <a:bodyPr wrap="square" rtlCol="0">
            <a:spAutoFit/>
          </a:bodyPr>
          <a:lstStyle/>
          <a:p>
            <a:r>
              <a:rPr lang="en-US" sz="2000" b="1" dirty="0">
                <a:solidFill>
                  <a:schemeClr val="bg1"/>
                </a:solidFill>
              </a:rPr>
              <a:t>Platform Administrator </a:t>
            </a:r>
            <a:endParaRPr lang="en-US" sz="2000" b="1" dirty="0" smtClean="0">
              <a:solidFill>
                <a:schemeClr val="bg1"/>
              </a:solidFill>
            </a:endParaRPr>
          </a:p>
          <a:p>
            <a:r>
              <a:rPr lang="en-US" dirty="0" smtClean="0">
                <a:solidFill>
                  <a:schemeClr val="bg1"/>
                </a:solidFill>
              </a:rPr>
              <a:t>manages </a:t>
            </a:r>
            <a:r>
              <a:rPr lang="en-US" dirty="0">
                <a:solidFill>
                  <a:schemeClr val="bg1"/>
                </a:solidFill>
              </a:rPr>
              <a:t>organizations, subscriptions, and platform-wide settings</a:t>
            </a:r>
          </a:p>
          <a:p>
            <a:r>
              <a:rPr lang="en-US" sz="2000" b="1" dirty="0">
                <a:solidFill>
                  <a:schemeClr val="bg1"/>
                </a:solidFill>
              </a:rPr>
              <a:t>Organization Administrator</a:t>
            </a:r>
            <a:r>
              <a:rPr lang="en-US" sz="2000" dirty="0">
                <a:solidFill>
                  <a:schemeClr val="bg1"/>
                </a:solidFill>
              </a:rPr>
              <a:t> </a:t>
            </a:r>
            <a:endParaRPr lang="en-US" sz="2000" dirty="0" smtClean="0">
              <a:solidFill>
                <a:schemeClr val="bg1"/>
              </a:solidFill>
            </a:endParaRPr>
          </a:p>
          <a:p>
            <a:r>
              <a:rPr lang="en-US" dirty="0" smtClean="0">
                <a:solidFill>
                  <a:schemeClr val="bg1"/>
                </a:solidFill>
              </a:rPr>
              <a:t>the </a:t>
            </a:r>
            <a:r>
              <a:rPr lang="en-US" dirty="0">
                <a:solidFill>
                  <a:schemeClr val="bg1"/>
                </a:solidFill>
              </a:rPr>
              <a:t>business owner; adds staff &amp; clients, creates projects, manages assets/inventory, configures permissions</a:t>
            </a:r>
          </a:p>
          <a:p>
            <a:r>
              <a:rPr lang="en-US" sz="2000" b="1" dirty="0">
                <a:solidFill>
                  <a:schemeClr val="bg1"/>
                </a:solidFill>
              </a:rPr>
              <a:t>Staff / Employee</a:t>
            </a:r>
            <a:r>
              <a:rPr lang="en-US" sz="2000" dirty="0">
                <a:solidFill>
                  <a:schemeClr val="bg1"/>
                </a:solidFill>
              </a:rPr>
              <a:t> </a:t>
            </a:r>
          </a:p>
          <a:p>
            <a:r>
              <a:rPr lang="en-US" dirty="0" smtClean="0">
                <a:solidFill>
                  <a:schemeClr val="bg1"/>
                </a:solidFill>
              </a:rPr>
              <a:t>works </a:t>
            </a:r>
            <a:r>
              <a:rPr lang="en-US" dirty="0">
                <a:solidFill>
                  <a:schemeClr val="bg1"/>
                </a:solidFill>
              </a:rPr>
              <a:t>on projects, uploads documents, responds to tickets (access depends on permissions)</a:t>
            </a:r>
          </a:p>
          <a:p>
            <a:r>
              <a:rPr lang="en-US" sz="2000" b="1" dirty="0">
                <a:solidFill>
                  <a:schemeClr val="bg1"/>
                </a:solidFill>
              </a:rPr>
              <a:t>Client</a:t>
            </a:r>
            <a:r>
              <a:rPr lang="en-US" sz="2000" dirty="0">
                <a:solidFill>
                  <a:schemeClr val="bg1"/>
                </a:solidFill>
              </a:rPr>
              <a:t> </a:t>
            </a:r>
            <a:endParaRPr lang="en-US" dirty="0">
              <a:solidFill>
                <a:schemeClr val="bg1"/>
              </a:solidFill>
            </a:endParaRPr>
          </a:p>
          <a:p>
            <a:r>
              <a:rPr lang="en-US" dirty="0" smtClean="0">
                <a:solidFill>
                  <a:schemeClr val="bg1"/>
                </a:solidFill>
              </a:rPr>
              <a:t>external </a:t>
            </a:r>
            <a:r>
              <a:rPr lang="en-US" dirty="0">
                <a:solidFill>
                  <a:schemeClr val="bg1"/>
                </a:solidFill>
              </a:rPr>
              <a:t>customer; views projects/milestones, uploads/downloads files, submits tickets, approves </a:t>
            </a:r>
            <a:r>
              <a:rPr lang="en-US" dirty="0" smtClean="0">
                <a:solidFill>
                  <a:schemeClr val="bg1"/>
                </a:solidFill>
              </a:rPr>
              <a:t>deliverables</a:t>
            </a:r>
            <a:endParaRPr lang="en-US" dirty="0">
              <a:solidFill>
                <a:schemeClr val="bg1"/>
              </a:solidFill>
            </a:endParaRPr>
          </a:p>
        </p:txBody>
      </p:sp>
    </p:spTree>
    <p:extLst>
      <p:ext uri="{BB962C8B-B14F-4D97-AF65-F5344CB8AC3E}">
        <p14:creationId xmlns:p14="http://schemas.microsoft.com/office/powerpoint/2010/main" val="2292466021"/>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5319" y="1654896"/>
            <a:ext cx="5504101" cy="1069848"/>
          </a:xfrm>
        </p:spPr>
        <p:txBody>
          <a:bodyPr/>
          <a:lstStyle/>
          <a:p>
            <a:pPr algn="r"/>
            <a:r>
              <a:rPr lang="en-US" sz="2800" dirty="0"/>
              <a:t>What's In Scope — and What's Next</a:t>
            </a:r>
          </a:p>
        </p:txBody>
      </p:sp>
      <p:sp>
        <p:nvSpPr>
          <p:cNvPr id="4" name="Rectangle 1"/>
          <p:cNvSpPr>
            <a:spLocks noGrp="1" noChangeArrowheads="1"/>
          </p:cNvSpPr>
          <p:nvPr>
            <p:ph type="body" idx="1"/>
          </p:nvPr>
        </p:nvSpPr>
        <p:spPr bwMode="auto">
          <a:xfrm>
            <a:off x="5102766" y="3394903"/>
            <a:ext cx="487174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effectLst/>
                <a:latin typeface="Arial" panose="020B0604020202020204" pitchFamily="34" charset="0"/>
              </a:rPr>
              <a:t>In Scope:</a:t>
            </a:r>
            <a:r>
              <a:rPr kumimoji="0" lang="en-US" altLang="en-US" sz="1800" b="0" i="0" u="none" strike="noStrike" cap="none" normalizeH="0" baseline="0" dirty="0" smtClean="0">
                <a:ln>
                  <a:noFill/>
                </a:ln>
                <a:effectLst/>
                <a:latin typeface="Arial" panose="020B0604020202020204" pitchFamily="34" charset="0"/>
              </a:rPr>
              <a:t> Authentication, RBAC, Client Portal, Project &amp; Milestone Management, Document Management, Approval Workflow, Support Tickets, Asset &amp; Inventory Management, Audit Logs, Dashboard &amp; Reports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effectLst/>
                <a:latin typeface="Arial" panose="020B0604020202020204" pitchFamily="34" charset="0"/>
              </a:rPr>
              <a:t>Out of Scope (future):</a:t>
            </a:r>
            <a:r>
              <a:rPr kumimoji="0" lang="en-US" altLang="en-US" sz="1800" b="0" i="0" u="none" strike="noStrike" cap="none" normalizeH="0" baseline="0" dirty="0" smtClean="0">
                <a:ln>
                  <a:noFill/>
                </a:ln>
                <a:effectLst/>
                <a:latin typeface="Arial" panose="020B0604020202020204" pitchFamily="34" charset="0"/>
              </a:rPr>
              <a:t> AI automation, full ERP/accounting, payroll, native mobile apps, video conferencing, advanced BI </a:t>
            </a:r>
          </a:p>
        </p:txBody>
      </p:sp>
    </p:spTree>
    <p:extLst>
      <p:ext uri="{BB962C8B-B14F-4D97-AF65-F5344CB8AC3E}">
        <p14:creationId xmlns:p14="http://schemas.microsoft.com/office/powerpoint/2010/main" val="3884999863"/>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73D4-535B-6DCC-2268-43A5E9E12C45}"/>
              </a:ext>
            </a:extLst>
          </p:cNvPr>
          <p:cNvSpPr>
            <a:spLocks noGrp="1"/>
          </p:cNvSpPr>
          <p:nvPr>
            <p:ph type="title"/>
          </p:nvPr>
        </p:nvSpPr>
        <p:spPr/>
        <p:txBody>
          <a:bodyPr/>
          <a:lstStyle/>
          <a:p>
            <a:r>
              <a:rPr lang="en-US" dirty="0"/>
              <a:t>Client Workspace Features</a:t>
            </a:r>
          </a:p>
        </p:txBody>
      </p:sp>
      <p:sp>
        <p:nvSpPr>
          <p:cNvPr id="10" name="Content Placeholder 9">
            <a:extLst>
              <a:ext uri="{FF2B5EF4-FFF2-40B4-BE49-F238E27FC236}">
                <a16:creationId xmlns:a16="http://schemas.microsoft.com/office/drawing/2014/main" id="{E135D3F1-0C33-3404-5D49-E70C9D100F2A}"/>
              </a:ext>
            </a:extLst>
          </p:cNvPr>
          <p:cNvSpPr>
            <a:spLocks noGrp="1"/>
          </p:cNvSpPr>
          <p:nvPr>
            <p:ph sz="half" idx="2"/>
          </p:nvPr>
        </p:nvSpPr>
        <p:spPr>
          <a:xfrm>
            <a:off x="1928405" y="2243873"/>
            <a:ext cx="2953512" cy="2578608"/>
          </a:xfrm>
        </p:spPr>
        <p:txBody>
          <a:bodyPr/>
          <a:lstStyle/>
          <a:p>
            <a:r>
              <a:rPr lang="en-US" dirty="0"/>
              <a:t>Portal</a:t>
            </a:r>
          </a:p>
          <a:p>
            <a:r>
              <a:rPr lang="en-US" dirty="0"/>
              <a:t>Milestone management​</a:t>
            </a:r>
          </a:p>
          <a:p>
            <a:r>
              <a:rPr lang="en-US" dirty="0"/>
              <a:t>Progress tracking</a:t>
            </a:r>
          </a:p>
          <a:p>
            <a:r>
              <a:rPr lang="en-US" dirty="0"/>
              <a:t>File sharing</a:t>
            </a:r>
          </a:p>
          <a:p>
            <a:r>
              <a:rPr lang="en-US" dirty="0"/>
              <a:t>Announcements</a:t>
            </a:r>
          </a:p>
          <a:p>
            <a:r>
              <a:rPr lang="en-US" dirty="0"/>
              <a:t>Support Tickets </a:t>
            </a:r>
          </a:p>
          <a:p>
            <a:r>
              <a:rPr lang="en-US" dirty="0"/>
              <a:t>Meeting Notes</a:t>
            </a:r>
          </a:p>
          <a:p>
            <a:pPr marL="0" indent="0">
              <a:buNone/>
            </a:pPr>
            <a:r>
              <a:rPr lang="en-US" dirty="0"/>
              <a:t>​</a:t>
            </a:r>
          </a:p>
          <a:p>
            <a:endParaRPr lang="en-US" dirty="0"/>
          </a:p>
          <a:p>
            <a:endParaRPr lang="en-US" dirty="0"/>
          </a:p>
          <a:p>
            <a:endParaRPr lang="en-US" dirty="0"/>
          </a:p>
        </p:txBody>
      </p:sp>
      <p:sp>
        <p:nvSpPr>
          <p:cNvPr id="11" name="Content Placeholder 10">
            <a:extLst>
              <a:ext uri="{FF2B5EF4-FFF2-40B4-BE49-F238E27FC236}">
                <a16:creationId xmlns:a16="http://schemas.microsoft.com/office/drawing/2014/main" id="{724F2AAC-B18D-1D49-15F1-2D69101664AA}"/>
              </a:ext>
            </a:extLst>
          </p:cNvPr>
          <p:cNvSpPr>
            <a:spLocks noGrp="1"/>
          </p:cNvSpPr>
          <p:nvPr>
            <p:ph sz="quarter" idx="4"/>
          </p:nvPr>
        </p:nvSpPr>
        <p:spPr>
          <a:xfrm>
            <a:off x="5833329" y="2386585"/>
            <a:ext cx="2953512" cy="2578608"/>
          </a:xfrm>
        </p:spPr>
        <p:txBody>
          <a:bodyPr/>
          <a:lstStyle/>
          <a:p>
            <a:r>
              <a:rPr lang="en-US" dirty="0"/>
              <a:t>Notifications</a:t>
            </a:r>
          </a:p>
          <a:p>
            <a:r>
              <a:rPr lang="en-US" dirty="0"/>
              <a:t>Reports</a:t>
            </a:r>
          </a:p>
          <a:p>
            <a:r>
              <a:rPr lang="en-US" dirty="0"/>
              <a:t>Contracts</a:t>
            </a:r>
          </a:p>
          <a:p>
            <a:r>
              <a:rPr lang="en-US" dirty="0"/>
              <a:t>Billing and invoice </a:t>
            </a:r>
          </a:p>
          <a:p>
            <a:r>
              <a:rPr lang="en-US" dirty="0"/>
              <a:t>Warranty </a:t>
            </a:r>
          </a:p>
          <a:p>
            <a:r>
              <a:rPr lang="en-US" dirty="0"/>
              <a:t>Warranty claim</a:t>
            </a:r>
          </a:p>
          <a:p>
            <a:endParaRPr lang="en-US" dirty="0"/>
          </a:p>
          <a:p>
            <a:endParaRPr lang="en-US" dirty="0"/>
          </a:p>
          <a:p>
            <a:endParaRPr lang="en-US" dirty="0"/>
          </a:p>
        </p:txBody>
      </p:sp>
    </p:spTree>
    <p:extLst>
      <p:ext uri="{BB962C8B-B14F-4D97-AF65-F5344CB8AC3E}">
        <p14:creationId xmlns:p14="http://schemas.microsoft.com/office/powerpoint/2010/main" val="1877080978"/>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73D4-535B-6DCC-2268-43A5E9E12C45}"/>
              </a:ext>
            </a:extLst>
          </p:cNvPr>
          <p:cNvSpPr>
            <a:spLocks noGrp="1"/>
          </p:cNvSpPr>
          <p:nvPr>
            <p:ph type="title"/>
          </p:nvPr>
        </p:nvSpPr>
        <p:spPr>
          <a:xfrm>
            <a:off x="1545335" y="822960"/>
            <a:ext cx="9525435" cy="1069848"/>
          </a:xfrm>
        </p:spPr>
        <p:txBody>
          <a:bodyPr/>
          <a:lstStyle/>
          <a:p>
            <a:r>
              <a:rPr lang="en-US" dirty="0"/>
              <a:t>Business Operation Features</a:t>
            </a:r>
          </a:p>
        </p:txBody>
      </p:sp>
      <p:sp>
        <p:nvSpPr>
          <p:cNvPr id="10" name="Content Placeholder 9">
            <a:extLst>
              <a:ext uri="{FF2B5EF4-FFF2-40B4-BE49-F238E27FC236}">
                <a16:creationId xmlns:a16="http://schemas.microsoft.com/office/drawing/2014/main" id="{E135D3F1-0C33-3404-5D49-E70C9D100F2A}"/>
              </a:ext>
            </a:extLst>
          </p:cNvPr>
          <p:cNvSpPr>
            <a:spLocks noGrp="1"/>
          </p:cNvSpPr>
          <p:nvPr>
            <p:ph sz="half" idx="2"/>
          </p:nvPr>
        </p:nvSpPr>
        <p:spPr>
          <a:xfrm>
            <a:off x="1626326" y="1892808"/>
            <a:ext cx="2953512" cy="2578608"/>
          </a:xfrm>
        </p:spPr>
        <p:txBody>
          <a:bodyPr/>
          <a:lstStyle/>
          <a:p>
            <a:r>
              <a:rPr lang="en-US" dirty="0"/>
              <a:t>Portal</a:t>
            </a:r>
          </a:p>
          <a:p>
            <a:r>
              <a:rPr lang="en-US" dirty="0"/>
              <a:t>Project management</a:t>
            </a:r>
          </a:p>
          <a:p>
            <a:r>
              <a:rPr lang="en-US" dirty="0"/>
              <a:t>Milestone management​</a:t>
            </a:r>
          </a:p>
          <a:p>
            <a:r>
              <a:rPr lang="en-US" dirty="0"/>
              <a:t>Progress tracking</a:t>
            </a:r>
          </a:p>
          <a:p>
            <a:r>
              <a:rPr lang="en-US" dirty="0"/>
              <a:t>File sharing</a:t>
            </a:r>
          </a:p>
          <a:p>
            <a:r>
              <a:rPr lang="en-US" dirty="0"/>
              <a:t>Announcements</a:t>
            </a:r>
          </a:p>
          <a:p>
            <a:r>
              <a:rPr lang="en-US" dirty="0"/>
              <a:t>Support Tickets </a:t>
            </a:r>
          </a:p>
          <a:p>
            <a:r>
              <a:rPr lang="en-US" dirty="0"/>
              <a:t>Meeting Notes</a:t>
            </a:r>
          </a:p>
          <a:p>
            <a:r>
              <a:rPr lang="en-US" dirty="0"/>
              <a:t>Asset management</a:t>
            </a:r>
          </a:p>
          <a:p>
            <a:r>
              <a:rPr lang="en-US" dirty="0"/>
              <a:t>Inventory management</a:t>
            </a:r>
          </a:p>
          <a:p>
            <a:endParaRPr lang="en-US" dirty="0"/>
          </a:p>
          <a:p>
            <a:endParaRPr lang="en-US" dirty="0"/>
          </a:p>
          <a:p>
            <a:endParaRPr lang="en-US" dirty="0"/>
          </a:p>
        </p:txBody>
      </p:sp>
      <p:sp>
        <p:nvSpPr>
          <p:cNvPr id="11" name="Content Placeholder 10">
            <a:extLst>
              <a:ext uri="{FF2B5EF4-FFF2-40B4-BE49-F238E27FC236}">
                <a16:creationId xmlns:a16="http://schemas.microsoft.com/office/drawing/2014/main" id="{724F2AAC-B18D-1D49-15F1-2D69101664AA}"/>
              </a:ext>
            </a:extLst>
          </p:cNvPr>
          <p:cNvSpPr>
            <a:spLocks noGrp="1"/>
          </p:cNvSpPr>
          <p:nvPr>
            <p:ph sz="quarter" idx="4"/>
          </p:nvPr>
        </p:nvSpPr>
        <p:spPr>
          <a:xfrm>
            <a:off x="5974951" y="1892808"/>
            <a:ext cx="2953512" cy="2578608"/>
          </a:xfrm>
        </p:spPr>
        <p:txBody>
          <a:bodyPr/>
          <a:lstStyle/>
          <a:p>
            <a:r>
              <a:rPr lang="en-US" dirty="0"/>
              <a:t>Notifications</a:t>
            </a:r>
          </a:p>
          <a:p>
            <a:r>
              <a:rPr lang="en-US" dirty="0"/>
              <a:t>Document management</a:t>
            </a:r>
          </a:p>
          <a:p>
            <a:r>
              <a:rPr lang="en-US" dirty="0"/>
              <a:t>Approval Workflow</a:t>
            </a:r>
          </a:p>
          <a:p>
            <a:r>
              <a:rPr lang="en-US" dirty="0"/>
              <a:t>Reports</a:t>
            </a:r>
          </a:p>
          <a:p>
            <a:r>
              <a:rPr lang="en-US" dirty="0"/>
              <a:t>Contracts</a:t>
            </a:r>
          </a:p>
          <a:p>
            <a:r>
              <a:rPr lang="en-US" dirty="0"/>
              <a:t>Billing and invoice </a:t>
            </a:r>
          </a:p>
          <a:p>
            <a:r>
              <a:rPr lang="en-US" dirty="0"/>
              <a:t>Warranty management </a:t>
            </a:r>
          </a:p>
          <a:p>
            <a:r>
              <a:rPr lang="en-US" dirty="0"/>
              <a:t>Dashboard</a:t>
            </a:r>
          </a:p>
          <a:p>
            <a:r>
              <a:rPr lang="en-US" dirty="0"/>
              <a:t>Audit Log</a:t>
            </a:r>
          </a:p>
          <a:p>
            <a:r>
              <a:rPr lang="en-US" dirty="0"/>
              <a:t>Inventory Tracking</a:t>
            </a:r>
          </a:p>
          <a:p>
            <a:endParaRPr lang="en-US" dirty="0"/>
          </a:p>
          <a:p>
            <a:endParaRPr lang="en-US" dirty="0"/>
          </a:p>
          <a:p>
            <a:endParaRPr lang="en-US" dirty="0"/>
          </a:p>
        </p:txBody>
      </p:sp>
    </p:spTree>
    <p:extLst>
      <p:ext uri="{BB962C8B-B14F-4D97-AF65-F5344CB8AC3E}">
        <p14:creationId xmlns:p14="http://schemas.microsoft.com/office/powerpoint/2010/main" val="2850421238"/>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4C44EC9-F730-00B6-E479-530EC276D851}"/>
              </a:ext>
              <a:ext uri="{C183D7F6-B498-43B3-948B-1728B52AA6E4}">
                <adec:decorative xmlns:adec="http://schemas.microsoft.com/office/drawing/2017/decorative" xmlns="" val="1"/>
              </a:ext>
            </a:extLst>
          </p:cNvPr>
          <p:cNvGrpSpPr/>
          <p:nvPr/>
        </p:nvGrpSpPr>
        <p:grpSpPr>
          <a:xfrm rot="10800000">
            <a:off x="1497321" y="2736484"/>
            <a:ext cx="1512407" cy="938717"/>
            <a:chOff x="4779792" y="2384561"/>
            <a:chExt cx="3365480" cy="2088878"/>
          </a:xfrm>
          <a:solidFill>
            <a:schemeClr val="accent6">
              <a:alpha val="50231"/>
            </a:schemeClr>
          </a:solidFill>
        </p:grpSpPr>
        <p:sp>
          <p:nvSpPr>
            <p:cNvPr id="5" name="Freeform 4">
              <a:extLst>
                <a:ext uri="{FF2B5EF4-FFF2-40B4-BE49-F238E27FC236}">
                  <a16:creationId xmlns:a16="http://schemas.microsoft.com/office/drawing/2014/main" id="{8B6D2F8E-4F98-B89F-E4FB-DD9F900821E1}"/>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99EBD7AD-ED91-CC5F-0110-3EE43A60F946}"/>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7" name="Group 6">
            <a:extLst>
              <a:ext uri="{FF2B5EF4-FFF2-40B4-BE49-F238E27FC236}">
                <a16:creationId xmlns:a16="http://schemas.microsoft.com/office/drawing/2014/main" id="{56B0BED4-B4D2-A8C2-9E8E-FA7D1819E15A}"/>
              </a:ext>
              <a:ext uri="{C183D7F6-B498-43B3-948B-1728B52AA6E4}">
                <adec:decorative xmlns:adec="http://schemas.microsoft.com/office/drawing/2017/decorative" xmlns="" val="1"/>
              </a:ext>
            </a:extLst>
          </p:cNvPr>
          <p:cNvGrpSpPr/>
          <p:nvPr/>
        </p:nvGrpSpPr>
        <p:grpSpPr>
          <a:xfrm>
            <a:off x="9199707" y="3205843"/>
            <a:ext cx="1512408" cy="938718"/>
            <a:chOff x="4779792" y="2384561"/>
            <a:chExt cx="3365480" cy="2088878"/>
          </a:xfrm>
          <a:solidFill>
            <a:schemeClr val="accent1">
              <a:alpha val="48174"/>
            </a:schemeClr>
          </a:solidFill>
        </p:grpSpPr>
        <p:sp>
          <p:nvSpPr>
            <p:cNvPr id="8" name="Freeform 1">
              <a:extLst>
                <a:ext uri="{FF2B5EF4-FFF2-40B4-BE49-F238E27FC236}">
                  <a16:creationId xmlns:a16="http://schemas.microsoft.com/office/drawing/2014/main" id="{B542C6FD-B908-03BB-DE9D-1E76EE849265}"/>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21">
              <a:extLst>
                <a:ext uri="{FF2B5EF4-FFF2-40B4-BE49-F238E27FC236}">
                  <a16:creationId xmlns:a16="http://schemas.microsoft.com/office/drawing/2014/main" id="{594F7F18-2B8D-7493-904B-1BD252DFC677}"/>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aphicFrame>
        <p:nvGraphicFramePr>
          <p:cNvPr id="3" name="Table 2">
            <a:extLst>
              <a:ext uri="{FF2B5EF4-FFF2-40B4-BE49-F238E27FC236}">
                <a16:creationId xmlns:a16="http://schemas.microsoft.com/office/drawing/2014/main" id="{0399E263-D351-B664-D0F2-A44D4D6525D5}"/>
              </a:ext>
            </a:extLst>
          </p:cNvPr>
          <p:cNvGraphicFramePr>
            <a:graphicFrameLocks noGrp="1"/>
          </p:cNvGraphicFramePr>
          <p:nvPr>
            <p:extLst>
              <p:ext uri="{D42A27DB-BD31-4B8C-83A1-F6EECF244321}">
                <p14:modId xmlns:p14="http://schemas.microsoft.com/office/powerpoint/2010/main" val="3566585268"/>
              </p:ext>
            </p:extLst>
          </p:nvPr>
        </p:nvGraphicFramePr>
        <p:xfrm>
          <a:off x="1497321" y="1118507"/>
          <a:ext cx="9663260" cy="4882241"/>
        </p:xfrm>
        <a:graphic>
          <a:graphicData uri="http://schemas.openxmlformats.org/drawingml/2006/table">
            <a:tbl>
              <a:tblPr>
                <a:tableStyleId>{E269D01E-BC32-4049-B463-5C60D7B0CCD2}</a:tableStyleId>
              </a:tblPr>
              <a:tblGrid>
                <a:gridCol w="1932652">
                  <a:extLst>
                    <a:ext uri="{9D8B030D-6E8A-4147-A177-3AD203B41FA5}">
                      <a16:colId xmlns:a16="http://schemas.microsoft.com/office/drawing/2014/main" val="3757988655"/>
                    </a:ext>
                  </a:extLst>
                </a:gridCol>
                <a:gridCol w="1932652">
                  <a:extLst>
                    <a:ext uri="{9D8B030D-6E8A-4147-A177-3AD203B41FA5}">
                      <a16:colId xmlns:a16="http://schemas.microsoft.com/office/drawing/2014/main" val="4151050600"/>
                    </a:ext>
                  </a:extLst>
                </a:gridCol>
                <a:gridCol w="1932652">
                  <a:extLst>
                    <a:ext uri="{9D8B030D-6E8A-4147-A177-3AD203B41FA5}">
                      <a16:colId xmlns:a16="http://schemas.microsoft.com/office/drawing/2014/main" val="2328635698"/>
                    </a:ext>
                  </a:extLst>
                </a:gridCol>
                <a:gridCol w="1932652">
                  <a:extLst>
                    <a:ext uri="{9D8B030D-6E8A-4147-A177-3AD203B41FA5}">
                      <a16:colId xmlns:a16="http://schemas.microsoft.com/office/drawing/2014/main" val="3545465442"/>
                    </a:ext>
                  </a:extLst>
                </a:gridCol>
                <a:gridCol w="1932652">
                  <a:extLst>
                    <a:ext uri="{9D8B030D-6E8A-4147-A177-3AD203B41FA5}">
                      <a16:colId xmlns:a16="http://schemas.microsoft.com/office/drawing/2014/main" val="2864398223"/>
                    </a:ext>
                  </a:extLst>
                </a:gridCol>
              </a:tblGrid>
              <a:tr h="320147">
                <a:tc>
                  <a:txBody>
                    <a:bodyPr/>
                    <a:lstStyle/>
                    <a:p>
                      <a:r>
                        <a:rPr lang="en-US" sz="1100" b="1" dirty="0">
                          <a:solidFill>
                            <a:schemeClr val="tx1">
                              <a:lumMod val="95000"/>
                              <a:lumOff val="5000"/>
                            </a:schemeClr>
                          </a:solidFill>
                        </a:rPr>
                        <a:t>Capability</a:t>
                      </a:r>
                    </a:p>
                  </a:txBody>
                  <a:tcPr marL="58165" marR="58165" marT="29082" marB="29082" anchor="ctr"/>
                </a:tc>
                <a:tc>
                  <a:txBody>
                    <a:bodyPr/>
                    <a:lstStyle/>
                    <a:p>
                      <a:pPr algn="ctr"/>
                      <a:r>
                        <a:rPr lang="en-US" sz="1100" b="1">
                          <a:solidFill>
                            <a:schemeClr val="tx1">
                              <a:lumMod val="95000"/>
                              <a:lumOff val="5000"/>
                            </a:schemeClr>
                          </a:solidFill>
                        </a:rPr>
                        <a:t>SuiteDash</a:t>
                      </a:r>
                    </a:p>
                  </a:txBody>
                  <a:tcPr marL="58165" marR="58165" marT="29082" marB="29082" anchor="ctr"/>
                </a:tc>
                <a:tc>
                  <a:txBody>
                    <a:bodyPr/>
                    <a:lstStyle/>
                    <a:p>
                      <a:pPr algn="ctr"/>
                      <a:r>
                        <a:rPr lang="en-US" sz="1100" b="1">
                          <a:solidFill>
                            <a:schemeClr val="tx1">
                              <a:lumMod val="95000"/>
                              <a:lumOff val="5000"/>
                            </a:schemeClr>
                          </a:solidFill>
                        </a:rPr>
                        <a:t>Clinked</a:t>
                      </a:r>
                    </a:p>
                  </a:txBody>
                  <a:tcPr marL="58165" marR="58165" marT="29082" marB="29082" anchor="ctr"/>
                </a:tc>
                <a:tc>
                  <a:txBody>
                    <a:bodyPr/>
                    <a:lstStyle/>
                    <a:p>
                      <a:pPr algn="ctr"/>
                      <a:r>
                        <a:rPr lang="en-US" sz="1100" b="1">
                          <a:solidFill>
                            <a:schemeClr val="tx1">
                              <a:lumMod val="95000"/>
                              <a:lumOff val="5000"/>
                            </a:schemeClr>
                          </a:solidFill>
                        </a:rPr>
                        <a:t>Moxo</a:t>
                      </a:r>
                    </a:p>
                  </a:txBody>
                  <a:tcPr marL="58165" marR="58165" marT="29082" marB="29082" anchor="ctr"/>
                </a:tc>
                <a:tc>
                  <a:txBody>
                    <a:bodyPr/>
                    <a:lstStyle/>
                    <a:p>
                      <a:pPr algn="ctr"/>
                      <a:r>
                        <a:rPr lang="en-US" sz="1100" b="1">
                          <a:solidFill>
                            <a:schemeClr val="tx1">
                              <a:lumMod val="95000"/>
                              <a:lumOff val="5000"/>
                            </a:schemeClr>
                          </a:solidFill>
                        </a:rPr>
                        <a:t>PortalHQ</a:t>
                      </a:r>
                    </a:p>
                  </a:txBody>
                  <a:tcPr marL="58165" marR="58165" marT="29082" marB="29082" anchor="ctr"/>
                </a:tc>
                <a:extLst>
                  <a:ext uri="{0D108BD9-81ED-4DB2-BD59-A6C34878D82A}">
                    <a16:rowId xmlns:a16="http://schemas.microsoft.com/office/drawing/2014/main" val="962783317"/>
                  </a:ext>
                </a:extLst>
              </a:tr>
              <a:tr h="320147">
                <a:tc>
                  <a:txBody>
                    <a:bodyPr/>
                    <a:lstStyle/>
                    <a:p>
                      <a:r>
                        <a:rPr lang="en-US" sz="1100" b="1">
                          <a:solidFill>
                            <a:schemeClr val="tx1">
                              <a:lumMod val="95000"/>
                              <a:lumOff val="5000"/>
                            </a:schemeClr>
                          </a:solidFill>
                        </a:rPr>
                        <a:t>Client Portal</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950734640"/>
                  </a:ext>
                </a:extLst>
              </a:tr>
              <a:tr h="320147">
                <a:tc>
                  <a:txBody>
                    <a:bodyPr/>
                    <a:lstStyle/>
                    <a:p>
                      <a:r>
                        <a:rPr lang="en-US" sz="1100" b="1">
                          <a:solidFill>
                            <a:schemeClr val="tx1">
                              <a:lumMod val="95000"/>
                              <a:lumOff val="5000"/>
                            </a:schemeClr>
                          </a:solidFill>
                        </a:rPr>
                        <a:t>Project Visibility</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216067291"/>
                  </a:ext>
                </a:extLst>
              </a:tr>
              <a:tr h="320147">
                <a:tc>
                  <a:txBody>
                    <a:bodyPr/>
                    <a:lstStyle/>
                    <a:p>
                      <a:r>
                        <a:rPr lang="en-US" sz="1100" b="1">
                          <a:solidFill>
                            <a:schemeClr val="tx1">
                              <a:lumMod val="95000"/>
                              <a:lumOff val="5000"/>
                            </a:schemeClr>
                          </a:solidFill>
                        </a:rPr>
                        <a:t>File Management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1405413127"/>
                  </a:ext>
                </a:extLst>
              </a:tr>
              <a:tr h="320147">
                <a:tc>
                  <a:txBody>
                    <a:bodyPr/>
                    <a:lstStyle/>
                    <a:p>
                      <a:r>
                        <a:rPr lang="en-US" sz="1100" b="1">
                          <a:solidFill>
                            <a:schemeClr val="tx1">
                              <a:lumMod val="95000"/>
                              <a:lumOff val="5000"/>
                            </a:schemeClr>
                          </a:solidFill>
                        </a:rPr>
                        <a:t>Communication</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3011582608"/>
                  </a:ext>
                </a:extLst>
              </a:tr>
              <a:tr h="320147">
                <a:tc>
                  <a:txBody>
                    <a:bodyPr/>
                    <a:lstStyle/>
                    <a:p>
                      <a:r>
                        <a:rPr lang="en-US" sz="1100" b="1">
                          <a:solidFill>
                            <a:schemeClr val="tx1">
                              <a:lumMod val="95000"/>
                              <a:lumOff val="5000"/>
                            </a:schemeClr>
                          </a:solidFill>
                        </a:rPr>
                        <a:t>Approval Workflow</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1931492299"/>
                  </a:ext>
                </a:extLst>
              </a:tr>
              <a:tr h="320147">
                <a:tc>
                  <a:txBody>
                    <a:bodyPr/>
                    <a:lstStyle/>
                    <a:p>
                      <a:r>
                        <a:rPr lang="en-US" sz="1100" b="1">
                          <a:solidFill>
                            <a:schemeClr val="tx1">
                              <a:lumMod val="95000"/>
                              <a:lumOff val="5000"/>
                            </a:schemeClr>
                          </a:solidFill>
                        </a:rPr>
                        <a:t>Support Tickets</a:t>
                      </a:r>
                    </a:p>
                  </a:txBody>
                  <a:tcPr marL="58165" marR="58165" marT="29082" marB="29082" anchor="ctr"/>
                </a:tc>
                <a:tc>
                  <a:txBody>
                    <a:bodyPr/>
                    <a:lstStyle/>
                    <a:p>
                      <a:pPr algn="ctr"/>
                      <a:r>
                        <a:rPr lang="en-US" sz="1100" b="1">
                          <a:solidFill>
                            <a:schemeClr val="tx1">
                              <a:lumMod val="95000"/>
                              <a:lumOff val="5000"/>
                            </a:schemeClr>
                          </a:solidFill>
                        </a:rPr>
                        <a:t>✅/partial</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1188033101"/>
                  </a:ext>
                </a:extLst>
              </a:tr>
              <a:tr h="320147">
                <a:tc>
                  <a:txBody>
                    <a:bodyPr/>
                    <a:lstStyle/>
                    <a:p>
                      <a:r>
                        <a:rPr lang="en-US" sz="1100" b="1">
                          <a:solidFill>
                            <a:schemeClr val="tx1">
                              <a:lumMod val="95000"/>
                              <a:lumOff val="5000"/>
                            </a:schemeClr>
                          </a:solidFill>
                        </a:rPr>
                        <a:t>Asset Registry</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2946069630"/>
                  </a:ext>
                </a:extLst>
              </a:tr>
              <a:tr h="320147">
                <a:tc>
                  <a:txBody>
                    <a:bodyPr/>
                    <a:lstStyle/>
                    <a:p>
                      <a:r>
                        <a:rPr lang="en-US" sz="1100" b="1">
                          <a:solidFill>
                            <a:schemeClr val="tx1">
                              <a:lumMod val="95000"/>
                              <a:lumOff val="5000"/>
                            </a:schemeClr>
                          </a:solidFill>
                        </a:rPr>
                        <a:t>Inventory</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4008086950"/>
                  </a:ext>
                </a:extLst>
              </a:tr>
              <a:tr h="560257">
                <a:tc>
                  <a:txBody>
                    <a:bodyPr/>
                    <a:lstStyle/>
                    <a:p>
                      <a:r>
                        <a:rPr lang="en-US" sz="1100" b="1">
                          <a:solidFill>
                            <a:schemeClr val="tx1">
                              <a:lumMod val="95000"/>
                              <a:lumOff val="5000"/>
                            </a:schemeClr>
                          </a:solidFill>
                        </a:rPr>
                        <a:t>Inventory Movement</a:t>
                      </a:r>
                    </a:p>
                  </a:txBody>
                  <a:tcPr marL="58165" marR="58165" marT="29082" marB="29082" anchor="ctr"/>
                </a:tc>
                <a:tc>
                  <a:txBody>
                    <a:bodyPr/>
                    <a:lstStyle/>
                    <a:p>
                      <a:pPr algn="ctr"/>
                      <a:r>
                        <a:rPr lang="en-US" sz="1100" b="1">
                          <a:solidFill>
                            <a:schemeClr val="tx1">
                              <a:lumMod val="95000"/>
                              <a:lumOff val="5000"/>
                            </a:schemeClr>
                          </a:solidFill>
                        </a:rPr>
                        <a:t>❌/limited</a:t>
                      </a:r>
                    </a:p>
                  </a:txBody>
                  <a:tcPr marL="58165" marR="58165" marT="29082" marB="29082" anchor="ctr"/>
                </a:tc>
                <a:tc>
                  <a:txBody>
                    <a:bodyPr/>
                    <a:lstStyle/>
                    <a:p>
                      <a:pPr algn="ctr"/>
                      <a:r>
                        <a:rPr lang="en-US" sz="1100" b="1">
                          <a:solidFill>
                            <a:schemeClr val="tx1">
                              <a:lumMod val="95000"/>
                              <a:lumOff val="5000"/>
                            </a:schemeClr>
                          </a:solidFill>
                        </a:rPr>
                        <a:t>❌/limited</a:t>
                      </a:r>
                    </a:p>
                  </a:txBody>
                  <a:tcPr marL="58165" marR="58165" marT="29082" marB="29082" anchor="ctr"/>
                </a:tc>
                <a:tc>
                  <a:txBody>
                    <a:bodyPr/>
                    <a:lstStyle/>
                    <a:p>
                      <a:pPr algn="ctr"/>
                      <a:r>
                        <a:rPr lang="en-US" sz="1100" b="1">
                          <a:solidFill>
                            <a:schemeClr val="tx1">
                              <a:lumMod val="95000"/>
                              <a:lumOff val="5000"/>
                            </a:schemeClr>
                          </a:solidFill>
                        </a:rPr>
                        <a:t>❌/limited</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619699963"/>
                  </a:ext>
                </a:extLst>
              </a:tr>
              <a:tr h="320147">
                <a:tc>
                  <a:txBody>
                    <a:bodyPr/>
                    <a:lstStyle/>
                    <a:p>
                      <a:r>
                        <a:rPr lang="en-US" sz="1100" b="1">
                          <a:solidFill>
                            <a:schemeClr val="tx1">
                              <a:lumMod val="95000"/>
                              <a:lumOff val="5000"/>
                            </a:schemeClr>
                          </a:solidFill>
                        </a:rPr>
                        <a:t>Asset Assignment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2326936381"/>
                  </a:ext>
                </a:extLst>
              </a:tr>
              <a:tr h="560257">
                <a:tc>
                  <a:txBody>
                    <a:bodyPr/>
                    <a:lstStyle/>
                    <a:p>
                      <a:r>
                        <a:rPr lang="en-US" sz="1100" b="1">
                          <a:solidFill>
                            <a:schemeClr val="tx1">
                              <a:lumMod val="95000"/>
                              <a:lumOff val="5000"/>
                            </a:schemeClr>
                          </a:solidFill>
                        </a:rPr>
                        <a:t>SME-focused Operations</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727182752"/>
                  </a:ext>
                </a:extLst>
              </a:tr>
              <a:tr h="560257">
                <a:tc>
                  <a:txBody>
                    <a:bodyPr/>
                    <a:lstStyle/>
                    <a:p>
                      <a:r>
                        <a:rPr lang="en-US" sz="1100" b="1">
                          <a:solidFill>
                            <a:schemeClr val="tx1">
                              <a:lumMod val="95000"/>
                              <a:lumOff val="5000"/>
                            </a:schemeClr>
                          </a:solidFill>
                        </a:rPr>
                        <a:t>Industry-independent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a:solidFill>
                            <a:schemeClr val="tx1">
                              <a:lumMod val="95000"/>
                              <a:lumOff val="5000"/>
                            </a:schemeClr>
                          </a:solidFill>
                        </a:rPr>
                        <a:t>✅</a:t>
                      </a:r>
                    </a:p>
                  </a:txBody>
                  <a:tcPr marL="58165" marR="58165" marT="29082" marB="29082" anchor="ctr"/>
                </a:tc>
                <a:tc>
                  <a:txBody>
                    <a:bodyPr/>
                    <a:lstStyle/>
                    <a:p>
                      <a:pPr algn="ctr"/>
                      <a:r>
                        <a:rPr lang="en-US" sz="1100" b="1" dirty="0">
                          <a:solidFill>
                            <a:schemeClr val="tx1">
                              <a:lumMod val="95000"/>
                              <a:lumOff val="5000"/>
                            </a:schemeClr>
                          </a:solidFill>
                        </a:rPr>
                        <a:t>✅</a:t>
                      </a:r>
                    </a:p>
                  </a:txBody>
                  <a:tcPr marL="58165" marR="58165" marT="29082" marB="29082" anchor="ctr"/>
                </a:tc>
                <a:extLst>
                  <a:ext uri="{0D108BD9-81ED-4DB2-BD59-A6C34878D82A}">
                    <a16:rowId xmlns:a16="http://schemas.microsoft.com/office/drawing/2014/main" val="871494185"/>
                  </a:ext>
                </a:extLst>
              </a:tr>
            </a:tbl>
          </a:graphicData>
        </a:graphic>
      </p:graphicFrame>
      <p:sp>
        <p:nvSpPr>
          <p:cNvPr id="10" name="Title 9">
            <a:extLst>
              <a:ext uri="{FF2B5EF4-FFF2-40B4-BE49-F238E27FC236}">
                <a16:creationId xmlns:a16="http://schemas.microsoft.com/office/drawing/2014/main" id="{CC472E99-6D9A-8DFB-2410-DB100A65C748}"/>
              </a:ext>
            </a:extLst>
          </p:cNvPr>
          <p:cNvSpPr>
            <a:spLocks noGrp="1"/>
          </p:cNvSpPr>
          <p:nvPr>
            <p:ph type="title"/>
          </p:nvPr>
        </p:nvSpPr>
        <p:spPr>
          <a:xfrm>
            <a:off x="1497321" y="446847"/>
            <a:ext cx="10228544" cy="515003"/>
          </a:xfrm>
        </p:spPr>
        <p:txBody>
          <a:bodyPr/>
          <a:lstStyle/>
          <a:p>
            <a:r>
              <a:rPr lang="en-US" dirty="0"/>
              <a:t>Software Comparison</a:t>
            </a:r>
          </a:p>
        </p:txBody>
      </p:sp>
    </p:spTree>
    <p:extLst>
      <p:ext uri="{BB962C8B-B14F-4D97-AF65-F5344CB8AC3E}">
        <p14:creationId xmlns:p14="http://schemas.microsoft.com/office/powerpoint/2010/main" val="1213210011"/>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0B07383B-6310-56A6-B051-F4B962E11786}"/>
              </a:ext>
            </a:extLst>
          </p:cNvPr>
          <p:cNvSpPr>
            <a:spLocks noGrp="1"/>
          </p:cNvSpPr>
          <p:nvPr>
            <p:ph type="title"/>
          </p:nvPr>
        </p:nvSpPr>
        <p:spPr/>
        <p:txBody>
          <a:bodyPr/>
          <a:lstStyle/>
          <a:p>
            <a:r>
              <a:rPr lang="en-US" dirty="0"/>
              <a:t>Technical Requirements</a:t>
            </a:r>
          </a:p>
        </p:txBody>
      </p:sp>
      <p:sp>
        <p:nvSpPr>
          <p:cNvPr id="4" name="Text Placeholder 3">
            <a:extLst>
              <a:ext uri="{FF2B5EF4-FFF2-40B4-BE49-F238E27FC236}">
                <a16:creationId xmlns:a16="http://schemas.microsoft.com/office/drawing/2014/main" id="{55DA2D8B-92F5-22B2-084C-934BCBC00DFD}"/>
              </a:ext>
            </a:extLst>
          </p:cNvPr>
          <p:cNvSpPr>
            <a:spLocks noGrp="1"/>
          </p:cNvSpPr>
          <p:nvPr>
            <p:ph type="body" sz="quarter" idx="12"/>
          </p:nvPr>
        </p:nvSpPr>
        <p:spPr/>
        <p:txBody>
          <a:bodyPr/>
          <a:lstStyle/>
          <a:p>
            <a:r>
              <a:rPr lang="en-US" dirty="0"/>
              <a:t>Frontend</a:t>
            </a:r>
          </a:p>
        </p:txBody>
      </p:sp>
      <p:sp>
        <p:nvSpPr>
          <p:cNvPr id="5" name="Text Placeholder 4">
            <a:extLst>
              <a:ext uri="{FF2B5EF4-FFF2-40B4-BE49-F238E27FC236}">
                <a16:creationId xmlns:a16="http://schemas.microsoft.com/office/drawing/2014/main" id="{8B004B5D-BB88-E446-FDC1-8BE748EFE8B6}"/>
              </a:ext>
            </a:extLst>
          </p:cNvPr>
          <p:cNvSpPr>
            <a:spLocks noGrp="1"/>
          </p:cNvSpPr>
          <p:nvPr>
            <p:ph type="body" sz="quarter" idx="13"/>
          </p:nvPr>
        </p:nvSpPr>
        <p:spPr/>
        <p:txBody>
          <a:bodyPr/>
          <a:lstStyle/>
          <a:p>
            <a:pPr algn="ctr"/>
            <a:r>
              <a:rPr lang="en-US" sz="2000" b="1" dirty="0"/>
              <a:t>React JS</a:t>
            </a:r>
          </a:p>
          <a:p>
            <a:endParaRPr lang="en-US" dirty="0"/>
          </a:p>
          <a:p>
            <a:r>
              <a:rPr lang="en-GB" b="0" i="0" dirty="0">
                <a:effectLst/>
                <a:latin typeface="Source Sans Pro Topnav"/>
              </a:rPr>
              <a:t>React is a JavaScript library for building user interfaces.</a:t>
            </a:r>
            <a:endParaRPr lang="en-US" dirty="0"/>
          </a:p>
        </p:txBody>
      </p:sp>
      <p:sp>
        <p:nvSpPr>
          <p:cNvPr id="6" name="Text Placeholder 5">
            <a:extLst>
              <a:ext uri="{FF2B5EF4-FFF2-40B4-BE49-F238E27FC236}">
                <a16:creationId xmlns:a16="http://schemas.microsoft.com/office/drawing/2014/main" id="{98AC0C5B-16A7-E317-7222-BF9FA26C0DC6}"/>
              </a:ext>
            </a:extLst>
          </p:cNvPr>
          <p:cNvSpPr>
            <a:spLocks noGrp="1"/>
          </p:cNvSpPr>
          <p:nvPr>
            <p:ph type="body" sz="quarter" idx="14"/>
          </p:nvPr>
        </p:nvSpPr>
        <p:spPr/>
        <p:txBody>
          <a:bodyPr/>
          <a:lstStyle/>
          <a:p>
            <a:r>
              <a:rPr lang="en-US" dirty="0"/>
              <a:t>UI</a:t>
            </a:r>
          </a:p>
        </p:txBody>
      </p:sp>
      <p:sp>
        <p:nvSpPr>
          <p:cNvPr id="7" name="Text Placeholder 6">
            <a:extLst>
              <a:ext uri="{FF2B5EF4-FFF2-40B4-BE49-F238E27FC236}">
                <a16:creationId xmlns:a16="http://schemas.microsoft.com/office/drawing/2014/main" id="{77D9B67F-AD02-4BA5-209B-C91070303A72}"/>
              </a:ext>
            </a:extLst>
          </p:cNvPr>
          <p:cNvSpPr>
            <a:spLocks noGrp="1"/>
          </p:cNvSpPr>
          <p:nvPr>
            <p:ph type="body" sz="quarter" idx="15"/>
          </p:nvPr>
        </p:nvSpPr>
        <p:spPr/>
        <p:txBody>
          <a:bodyPr/>
          <a:lstStyle/>
          <a:p>
            <a:pPr algn="ctr"/>
            <a:r>
              <a:rPr lang="en-US" sz="2000" b="1" dirty="0"/>
              <a:t>Tailwind CSS</a:t>
            </a:r>
          </a:p>
          <a:p>
            <a:pPr algn="ctr"/>
            <a:endParaRPr lang="en-US" dirty="0"/>
          </a:p>
          <a:p>
            <a:r>
              <a:rPr lang="en-GB" sz="1050" b="0" i="0" dirty="0">
                <a:effectLst/>
                <a:latin typeface="Nunito" panose="020F0502020204030204" pitchFamily="2" charset="0"/>
              </a:rPr>
              <a:t>Tailwind CSS is a modern, utility-first framework that lets developers style websites directly in HTML using utility classes.</a:t>
            </a:r>
            <a:endParaRPr lang="en-US" sz="1050" dirty="0"/>
          </a:p>
        </p:txBody>
      </p:sp>
      <p:sp>
        <p:nvSpPr>
          <p:cNvPr id="8" name="Text Placeholder 7">
            <a:extLst>
              <a:ext uri="{FF2B5EF4-FFF2-40B4-BE49-F238E27FC236}">
                <a16:creationId xmlns:a16="http://schemas.microsoft.com/office/drawing/2014/main" id="{6269FBD2-F371-6F7E-1D42-95EFADFA10DD}"/>
              </a:ext>
            </a:extLst>
          </p:cNvPr>
          <p:cNvSpPr>
            <a:spLocks noGrp="1"/>
          </p:cNvSpPr>
          <p:nvPr>
            <p:ph type="body" sz="quarter" idx="16"/>
          </p:nvPr>
        </p:nvSpPr>
        <p:spPr/>
        <p:txBody>
          <a:bodyPr/>
          <a:lstStyle/>
          <a:p>
            <a:r>
              <a:rPr lang="en-US" dirty="0"/>
              <a:t>Database</a:t>
            </a:r>
          </a:p>
        </p:txBody>
      </p:sp>
      <p:sp>
        <p:nvSpPr>
          <p:cNvPr id="9" name="Text Placeholder 8">
            <a:extLst>
              <a:ext uri="{FF2B5EF4-FFF2-40B4-BE49-F238E27FC236}">
                <a16:creationId xmlns:a16="http://schemas.microsoft.com/office/drawing/2014/main" id="{F039B280-D4F1-D5B7-9D62-C1DA10C605C9}"/>
              </a:ext>
            </a:extLst>
          </p:cNvPr>
          <p:cNvSpPr>
            <a:spLocks noGrp="1"/>
          </p:cNvSpPr>
          <p:nvPr>
            <p:ph type="body" sz="quarter" idx="17"/>
          </p:nvPr>
        </p:nvSpPr>
        <p:spPr/>
        <p:txBody>
          <a:bodyPr/>
          <a:lstStyle/>
          <a:p>
            <a:pPr algn="ctr"/>
            <a:r>
              <a:rPr lang="en-US" sz="2000" b="1" dirty="0"/>
              <a:t>MySQL</a:t>
            </a:r>
          </a:p>
          <a:p>
            <a:pPr algn="ctr"/>
            <a:endParaRPr lang="en-US" dirty="0"/>
          </a:p>
          <a:p>
            <a:r>
              <a:rPr lang="en-GB" b="0" i="0" dirty="0">
                <a:effectLst/>
                <a:latin typeface="Source Sans Pro Topnav"/>
              </a:rPr>
              <a:t>MySQL is a widely used relational database management system (RDBMS).</a:t>
            </a:r>
            <a:endParaRPr lang="en-US" dirty="0"/>
          </a:p>
        </p:txBody>
      </p:sp>
      <p:sp>
        <p:nvSpPr>
          <p:cNvPr id="10" name="Text Placeholder 9">
            <a:extLst>
              <a:ext uri="{FF2B5EF4-FFF2-40B4-BE49-F238E27FC236}">
                <a16:creationId xmlns:a16="http://schemas.microsoft.com/office/drawing/2014/main" id="{6A9C835B-EE7B-2801-6842-7044F690144A}"/>
              </a:ext>
            </a:extLst>
          </p:cNvPr>
          <p:cNvSpPr>
            <a:spLocks noGrp="1"/>
          </p:cNvSpPr>
          <p:nvPr>
            <p:ph type="body" sz="quarter" idx="18"/>
          </p:nvPr>
        </p:nvSpPr>
        <p:spPr/>
        <p:txBody>
          <a:bodyPr/>
          <a:lstStyle/>
          <a:p>
            <a:r>
              <a:rPr lang="en-US" dirty="0"/>
              <a:t>Backend</a:t>
            </a:r>
          </a:p>
        </p:txBody>
      </p:sp>
      <p:sp>
        <p:nvSpPr>
          <p:cNvPr id="11" name="Text Placeholder 10">
            <a:extLst>
              <a:ext uri="{FF2B5EF4-FFF2-40B4-BE49-F238E27FC236}">
                <a16:creationId xmlns:a16="http://schemas.microsoft.com/office/drawing/2014/main" id="{429544CE-BE3D-F6DD-FADE-D85F729A9BCC}"/>
              </a:ext>
            </a:extLst>
          </p:cNvPr>
          <p:cNvSpPr>
            <a:spLocks noGrp="1"/>
          </p:cNvSpPr>
          <p:nvPr>
            <p:ph type="body" sz="quarter" idx="19"/>
          </p:nvPr>
        </p:nvSpPr>
        <p:spPr/>
        <p:txBody>
          <a:bodyPr/>
          <a:lstStyle/>
          <a:p>
            <a:pPr algn="ctr"/>
            <a:r>
              <a:rPr lang="en-US" sz="2000" b="1" dirty="0"/>
              <a:t>Django</a:t>
            </a:r>
          </a:p>
          <a:p>
            <a:pPr algn="ctr"/>
            <a:endParaRPr lang="en-US" sz="2000" dirty="0"/>
          </a:p>
          <a:p>
            <a:pPr algn="ctr"/>
            <a:r>
              <a:rPr lang="en-GB" b="0" i="0" dirty="0">
                <a:effectLst/>
                <a:latin typeface="Source Sans Pro Topnav"/>
              </a:rPr>
              <a:t>Django is a back-end server side web framework.</a:t>
            </a:r>
            <a:endParaRPr lang="en-US" dirty="0"/>
          </a:p>
          <a:p>
            <a:endParaRPr lang="en-US" dirty="0"/>
          </a:p>
        </p:txBody>
      </p:sp>
      <p:sp>
        <p:nvSpPr>
          <p:cNvPr id="81" name="Text Placeholder 80">
            <a:extLst>
              <a:ext uri="{FF2B5EF4-FFF2-40B4-BE49-F238E27FC236}">
                <a16:creationId xmlns:a16="http://schemas.microsoft.com/office/drawing/2014/main" id="{2AF0BD8F-E098-8282-AE8C-8BFAB5EBBFC2}"/>
              </a:ext>
            </a:extLst>
          </p:cNvPr>
          <p:cNvSpPr>
            <a:spLocks noGrp="1"/>
          </p:cNvSpPr>
          <p:nvPr>
            <p:ph type="body" sz="quarter" idx="20"/>
          </p:nvPr>
        </p:nvSpPr>
        <p:spPr/>
        <p:txBody>
          <a:bodyPr/>
          <a:lstStyle/>
          <a:p>
            <a:r>
              <a:rPr lang="en-US" dirty="0">
                <a:solidFill>
                  <a:schemeClr val="accent3">
                    <a:lumMod val="25000"/>
                  </a:schemeClr>
                </a:solidFill>
                <a:latin typeface="Tw Cen MT" panose="020B0602020104020603" pitchFamily="34" charset="77"/>
                <a:ea typeface="Source Sans Pro" panose="020B0503030403020204" pitchFamily="34" charset="0"/>
              </a:rPr>
              <a:t>Framework</a:t>
            </a:r>
            <a:endParaRPr lang="en-US" dirty="0"/>
          </a:p>
        </p:txBody>
      </p:sp>
      <p:sp>
        <p:nvSpPr>
          <p:cNvPr id="2" name="Text Placeholder 1">
            <a:extLst>
              <a:ext uri="{FF2B5EF4-FFF2-40B4-BE49-F238E27FC236}">
                <a16:creationId xmlns:a16="http://schemas.microsoft.com/office/drawing/2014/main" id="{D733E31E-F298-485B-42BF-303CC635241F}"/>
              </a:ext>
            </a:extLst>
          </p:cNvPr>
          <p:cNvSpPr>
            <a:spLocks noGrp="1"/>
          </p:cNvSpPr>
          <p:nvPr>
            <p:ph type="body" sz="quarter" idx="21"/>
          </p:nvPr>
        </p:nvSpPr>
        <p:spPr/>
        <p:txBody>
          <a:bodyPr/>
          <a:lstStyle/>
          <a:p>
            <a:pPr algn="ctr"/>
            <a:r>
              <a:rPr lang="en-US" sz="2000" b="1" dirty="0"/>
              <a:t>Django REST</a:t>
            </a:r>
          </a:p>
          <a:p>
            <a:endParaRPr lang="en-US" dirty="0"/>
          </a:p>
          <a:p>
            <a:r>
              <a:rPr lang="en-GB" b="0" i="0" dirty="0">
                <a:effectLst/>
                <a:latin typeface="Roboto" panose="02000000000000000000" pitchFamily="2" charset="0"/>
              </a:rPr>
              <a:t>Django REST framework is a powerful and flexible toolkit for building Web APIs</a:t>
            </a:r>
            <a:endParaRPr lang="en-US" dirty="0"/>
          </a:p>
        </p:txBody>
      </p:sp>
    </p:spTree>
    <p:extLst>
      <p:ext uri="{BB962C8B-B14F-4D97-AF65-F5344CB8AC3E}">
        <p14:creationId xmlns:p14="http://schemas.microsoft.com/office/powerpoint/2010/main" val="143013819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4C44EC9-F730-00B6-E479-530EC276D851}"/>
              </a:ext>
              <a:ext uri="{C183D7F6-B498-43B3-948B-1728B52AA6E4}">
                <adec:decorative xmlns:adec="http://schemas.microsoft.com/office/drawing/2017/decorative" xmlns="" val="1"/>
              </a:ext>
            </a:extLst>
          </p:cNvPr>
          <p:cNvGrpSpPr/>
          <p:nvPr/>
        </p:nvGrpSpPr>
        <p:grpSpPr>
          <a:xfrm rot="10800000">
            <a:off x="1497321" y="2736484"/>
            <a:ext cx="1512407" cy="938717"/>
            <a:chOff x="4779792" y="2384561"/>
            <a:chExt cx="3365480" cy="2088878"/>
          </a:xfrm>
          <a:solidFill>
            <a:schemeClr val="accent6">
              <a:alpha val="50231"/>
            </a:schemeClr>
          </a:solidFill>
        </p:grpSpPr>
        <p:sp>
          <p:nvSpPr>
            <p:cNvPr id="5" name="Freeform 4">
              <a:extLst>
                <a:ext uri="{FF2B5EF4-FFF2-40B4-BE49-F238E27FC236}">
                  <a16:creationId xmlns:a16="http://schemas.microsoft.com/office/drawing/2014/main" id="{8B6D2F8E-4F98-B89F-E4FB-DD9F900821E1}"/>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99EBD7AD-ED91-CC5F-0110-3EE43A60F946}"/>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7" name="Group 6">
            <a:extLst>
              <a:ext uri="{FF2B5EF4-FFF2-40B4-BE49-F238E27FC236}">
                <a16:creationId xmlns:a16="http://schemas.microsoft.com/office/drawing/2014/main" id="{56B0BED4-B4D2-A8C2-9E8E-FA7D1819E15A}"/>
              </a:ext>
              <a:ext uri="{C183D7F6-B498-43B3-948B-1728B52AA6E4}">
                <adec:decorative xmlns:adec="http://schemas.microsoft.com/office/drawing/2017/decorative" xmlns="" val="1"/>
              </a:ext>
            </a:extLst>
          </p:cNvPr>
          <p:cNvGrpSpPr/>
          <p:nvPr/>
        </p:nvGrpSpPr>
        <p:grpSpPr>
          <a:xfrm>
            <a:off x="9199707" y="3205843"/>
            <a:ext cx="1512408" cy="938718"/>
            <a:chOff x="4779792" y="2384561"/>
            <a:chExt cx="3365480" cy="2088878"/>
          </a:xfrm>
          <a:solidFill>
            <a:schemeClr val="accent1">
              <a:alpha val="48174"/>
            </a:schemeClr>
          </a:solidFill>
        </p:grpSpPr>
        <p:sp>
          <p:nvSpPr>
            <p:cNvPr id="8" name="Freeform 1">
              <a:extLst>
                <a:ext uri="{FF2B5EF4-FFF2-40B4-BE49-F238E27FC236}">
                  <a16:creationId xmlns:a16="http://schemas.microsoft.com/office/drawing/2014/main" id="{B542C6FD-B908-03BB-DE9D-1E76EE849265}"/>
                </a:ext>
              </a:extLst>
            </p:cNvPr>
            <p:cNvSpPr/>
            <p:nvPr/>
          </p:nvSpPr>
          <p:spPr>
            <a:xfrm flipH="1">
              <a:off x="6582137"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21">
              <a:extLst>
                <a:ext uri="{FF2B5EF4-FFF2-40B4-BE49-F238E27FC236}">
                  <a16:creationId xmlns:a16="http://schemas.microsoft.com/office/drawing/2014/main" id="{594F7F18-2B8D-7493-904B-1BD252DFC677}"/>
                </a:ext>
              </a:extLst>
            </p:cNvPr>
            <p:cNvSpPr/>
            <p:nvPr/>
          </p:nvSpPr>
          <p:spPr>
            <a:xfrm flipH="1">
              <a:off x="4779792" y="2384561"/>
              <a:ext cx="1563135" cy="2088878"/>
            </a:xfrm>
            <a:custGeom>
              <a:avLst/>
              <a:gdLst>
                <a:gd name="connsiteX0" fmla="*/ 520700 w 1041400"/>
                <a:gd name="connsiteY0" fmla="*/ 0 h 1391663"/>
                <a:gd name="connsiteX1" fmla="*/ 0 w 1041400"/>
                <a:gd name="connsiteY1" fmla="*/ 520700 h 1391663"/>
                <a:gd name="connsiteX2" fmla="*/ 601 w 1041400"/>
                <a:gd name="connsiteY2" fmla="*/ 526665 h 1391663"/>
                <a:gd name="connsiteX3" fmla="*/ 0 w 1041400"/>
                <a:gd name="connsiteY3" fmla="*/ 530884 h 1391663"/>
                <a:gd name="connsiteX4" fmla="*/ 839841 w 1041400"/>
                <a:gd name="connsiteY4" fmla="*/ 1391663 h 1391663"/>
                <a:gd name="connsiteX5" fmla="*/ 596988 w 1041400"/>
                <a:gd name="connsiteY5" fmla="*/ 1070463 h 1391663"/>
                <a:gd name="connsiteX6" fmla="*/ 595327 w 1041400"/>
                <a:gd name="connsiteY6" fmla="*/ 1033877 h 1391663"/>
                <a:gd name="connsiteX7" fmla="*/ 625639 w 1041400"/>
                <a:gd name="connsiteY7" fmla="*/ 1030821 h 1391663"/>
                <a:gd name="connsiteX8" fmla="*/ 1041400 w 1041400"/>
                <a:gd name="connsiteY8" fmla="*/ 520700 h 1391663"/>
                <a:gd name="connsiteX9" fmla="*/ 520700 w 1041400"/>
                <a:gd name="connsiteY9" fmla="*/ 0 h 139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1400" h="1391663">
                  <a:moveTo>
                    <a:pt x="520700" y="0"/>
                  </a:moveTo>
                  <a:cubicBezTo>
                    <a:pt x="233125" y="0"/>
                    <a:pt x="0" y="233125"/>
                    <a:pt x="0" y="520700"/>
                  </a:cubicBezTo>
                  <a:lnTo>
                    <a:pt x="601" y="526665"/>
                  </a:lnTo>
                  <a:lnTo>
                    <a:pt x="0" y="530884"/>
                  </a:lnTo>
                  <a:cubicBezTo>
                    <a:pt x="1270" y="763309"/>
                    <a:pt x="141037" y="1339599"/>
                    <a:pt x="839841" y="1391663"/>
                  </a:cubicBezTo>
                  <a:cubicBezTo>
                    <a:pt x="756282" y="1328754"/>
                    <a:pt x="622088" y="1243235"/>
                    <a:pt x="596988" y="1070463"/>
                  </a:cubicBezTo>
                  <a:lnTo>
                    <a:pt x="595327" y="1033877"/>
                  </a:lnTo>
                  <a:lnTo>
                    <a:pt x="625639" y="1030821"/>
                  </a:lnTo>
                  <a:cubicBezTo>
                    <a:pt x="862914" y="982268"/>
                    <a:pt x="1041400" y="772328"/>
                    <a:pt x="1041400" y="520700"/>
                  </a:cubicBezTo>
                  <a:cubicBezTo>
                    <a:pt x="1041400" y="233125"/>
                    <a:pt x="808275" y="0"/>
                    <a:pt x="5207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D04F090D-C862-CF85-1001-A82E54365597}"/>
              </a:ext>
            </a:extLst>
          </p:cNvPr>
          <p:cNvSpPr>
            <a:spLocks noGrp="1"/>
          </p:cNvSpPr>
          <p:nvPr>
            <p:ph type="ctrTitle"/>
          </p:nvPr>
        </p:nvSpPr>
        <p:spPr>
          <a:xfrm>
            <a:off x="293914" y="2752344"/>
            <a:ext cx="11699422" cy="1600200"/>
          </a:xfrm>
        </p:spPr>
        <p:txBody>
          <a:bodyPr/>
          <a:lstStyle/>
          <a:p>
            <a:r>
              <a:rPr lang="en-US" dirty="0"/>
              <a:t>How you gather, manage and use information will determine whether you loss or win.</a:t>
            </a:r>
            <a:br>
              <a:rPr lang="en-US" dirty="0"/>
            </a:br>
            <a:endParaRPr lang="en-US" dirty="0"/>
          </a:p>
        </p:txBody>
      </p:sp>
      <p:sp>
        <p:nvSpPr>
          <p:cNvPr id="3" name="Subtitle 2">
            <a:extLst>
              <a:ext uri="{FF2B5EF4-FFF2-40B4-BE49-F238E27FC236}">
                <a16:creationId xmlns:a16="http://schemas.microsoft.com/office/drawing/2014/main" id="{4CE82C04-6445-9E02-B0E8-8D809278C37D}"/>
              </a:ext>
            </a:extLst>
          </p:cNvPr>
          <p:cNvSpPr>
            <a:spLocks noGrp="1"/>
          </p:cNvSpPr>
          <p:nvPr>
            <p:ph type="subTitle" idx="1"/>
          </p:nvPr>
        </p:nvSpPr>
        <p:spPr>
          <a:xfrm>
            <a:off x="7581356" y="4806043"/>
            <a:ext cx="2843784" cy="448056"/>
          </a:xfrm>
        </p:spPr>
        <p:txBody>
          <a:bodyPr/>
          <a:lstStyle/>
          <a:p>
            <a:r>
              <a:rPr lang="en-US" dirty="0"/>
              <a:t>-Bill Gates</a:t>
            </a:r>
          </a:p>
        </p:txBody>
      </p:sp>
    </p:spTree>
    <p:extLst>
      <p:ext uri="{BB962C8B-B14F-4D97-AF65-F5344CB8AC3E}">
        <p14:creationId xmlns:p14="http://schemas.microsoft.com/office/powerpoint/2010/main" val="4178021939"/>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05">
            <a:extLst>
              <a:ext uri="{FF2B5EF4-FFF2-40B4-BE49-F238E27FC236}">
                <a16:creationId xmlns:a16="http://schemas.microsoft.com/office/drawing/2014/main" id="{734F8B63-0C1D-770B-CA9D-EE7ACF817C1F}"/>
              </a:ext>
            </a:extLst>
          </p:cNvPr>
          <p:cNvSpPr>
            <a:spLocks noGrp="1"/>
          </p:cNvSpPr>
          <p:nvPr>
            <p:ph type="title"/>
          </p:nvPr>
        </p:nvSpPr>
        <p:spPr/>
        <p:txBody>
          <a:bodyPr/>
          <a:lstStyle/>
          <a:p>
            <a:r>
              <a:rPr lang="en-US" dirty="0"/>
              <a:t>Business Growth</a:t>
            </a:r>
          </a:p>
        </p:txBody>
      </p:sp>
      <p:pic>
        <p:nvPicPr>
          <p:cNvPr id="85" name="Picture Placeholder 84" descr="Continuous Improvement outline">
            <a:extLst>
              <a:ext uri="{FF2B5EF4-FFF2-40B4-BE49-F238E27FC236}">
                <a16:creationId xmlns:a16="http://schemas.microsoft.com/office/drawing/2014/main" id="{D65F5CE9-1D9A-9BF0-5ADD-C4E2693DA4CB}"/>
              </a:ext>
            </a:extLst>
          </p:cNvPr>
          <p:cNvPicPr>
            <a:picLocks noGrp="1" noChangeAspect="1"/>
          </p:cNvPicPr>
          <p:nvPr>
            <p:ph type="pic" sz="quarter" idx="22"/>
          </p:nvPr>
        </p:nvPicPr>
        <p:blipFill rotWithShape="1">
          <a:blip r:embed="rId2"/>
          <a:srcRect t="517" b="517"/>
          <a:stretch/>
        </p:blipFill>
        <p:spPr>
          <a:xfrm>
            <a:off x="1583555" y="2980517"/>
            <a:ext cx="713074" cy="713074"/>
          </a:xfrm>
        </p:spPr>
      </p:pic>
      <p:pic>
        <p:nvPicPr>
          <p:cNvPr id="86" name="Picture Placeholder 85" descr="Wallet outline">
            <a:extLst>
              <a:ext uri="{FF2B5EF4-FFF2-40B4-BE49-F238E27FC236}">
                <a16:creationId xmlns:a16="http://schemas.microsoft.com/office/drawing/2014/main" id="{EDC60F06-D73E-F719-14FA-A6F1ECF09300}"/>
              </a:ext>
            </a:extLst>
          </p:cNvPr>
          <p:cNvPicPr>
            <a:picLocks noGrp="1" noChangeAspect="1"/>
          </p:cNvPicPr>
          <p:nvPr>
            <p:ph type="pic" sz="quarter" idx="23"/>
          </p:nvPr>
        </p:nvPicPr>
        <p:blipFill rotWithShape="1">
          <a:blip r:embed="rId3"/>
          <a:srcRect t="128" b="128"/>
          <a:stretch/>
        </p:blipFill>
        <p:spPr/>
      </p:pic>
      <p:pic>
        <p:nvPicPr>
          <p:cNvPr id="87" name="Picture Placeholder 86" descr="Piggy Bank outline">
            <a:extLst>
              <a:ext uri="{FF2B5EF4-FFF2-40B4-BE49-F238E27FC236}">
                <a16:creationId xmlns:a16="http://schemas.microsoft.com/office/drawing/2014/main" id="{ED53247D-56A2-6AB9-6FF9-0313BD7DB9E8}"/>
              </a:ext>
            </a:extLst>
          </p:cNvPr>
          <p:cNvPicPr>
            <a:picLocks noGrp="1" noChangeAspect="1"/>
          </p:cNvPicPr>
          <p:nvPr>
            <p:ph type="pic" sz="quarter" idx="24"/>
          </p:nvPr>
        </p:nvPicPr>
        <p:blipFill rotWithShape="1">
          <a:blip r:embed="rId4"/>
          <a:srcRect/>
          <a:stretch/>
        </p:blipFill>
        <p:spPr/>
      </p:pic>
      <p:pic>
        <p:nvPicPr>
          <p:cNvPr id="88" name="Picture Placeholder 87" descr="Bitcoin outline">
            <a:extLst>
              <a:ext uri="{FF2B5EF4-FFF2-40B4-BE49-F238E27FC236}">
                <a16:creationId xmlns:a16="http://schemas.microsoft.com/office/drawing/2014/main" id="{32BC0F61-A0C8-5BEF-A6E9-0E7ADE645FA6}"/>
              </a:ext>
            </a:extLst>
          </p:cNvPr>
          <p:cNvPicPr>
            <a:picLocks noGrp="1" noChangeAspect="1"/>
          </p:cNvPicPr>
          <p:nvPr>
            <p:ph type="pic" sz="quarter" idx="25"/>
          </p:nvPr>
        </p:nvPicPr>
        <p:blipFill rotWithShape="1">
          <a:blip r:embed="rId5"/>
          <a:srcRect l="345" r="345"/>
          <a:stretch/>
        </p:blipFill>
        <p:spPr/>
      </p:pic>
      <p:pic>
        <p:nvPicPr>
          <p:cNvPr id="90" name="Picture Placeholder 89" descr="Exponential Graph outline">
            <a:extLst>
              <a:ext uri="{FF2B5EF4-FFF2-40B4-BE49-F238E27FC236}">
                <a16:creationId xmlns:a16="http://schemas.microsoft.com/office/drawing/2014/main" id="{86472D92-CAA9-AF6F-549B-2EE170C70DD7}"/>
              </a:ext>
            </a:extLst>
          </p:cNvPr>
          <p:cNvPicPr>
            <a:picLocks noGrp="1" noChangeAspect="1"/>
          </p:cNvPicPr>
          <p:nvPr>
            <p:ph type="pic" sz="quarter" idx="26"/>
          </p:nvPr>
        </p:nvPicPr>
        <p:blipFill rotWithShape="1">
          <a:blip r:embed="rId6"/>
          <a:srcRect/>
          <a:stretch/>
        </p:blipFill>
        <p:spPr/>
      </p:pic>
      <p:sp>
        <p:nvSpPr>
          <p:cNvPr id="3" name="Text Placeholder 2">
            <a:extLst>
              <a:ext uri="{FF2B5EF4-FFF2-40B4-BE49-F238E27FC236}">
                <a16:creationId xmlns:a16="http://schemas.microsoft.com/office/drawing/2014/main" id="{0CF4EECB-47E7-26A0-F3A1-ACAE7AEE5741}"/>
              </a:ext>
            </a:extLst>
          </p:cNvPr>
          <p:cNvSpPr>
            <a:spLocks noGrp="1"/>
          </p:cNvSpPr>
          <p:nvPr>
            <p:ph type="body" sz="quarter" idx="12"/>
          </p:nvPr>
        </p:nvSpPr>
        <p:spPr/>
        <p:txBody>
          <a:bodyPr/>
          <a:lstStyle/>
          <a:p>
            <a:r>
              <a:rPr lang="en-US" dirty="0"/>
              <a:t>Step 1</a:t>
            </a:r>
          </a:p>
        </p:txBody>
      </p:sp>
      <p:sp>
        <p:nvSpPr>
          <p:cNvPr id="133" name="Text Placeholder 132">
            <a:extLst>
              <a:ext uri="{FF2B5EF4-FFF2-40B4-BE49-F238E27FC236}">
                <a16:creationId xmlns:a16="http://schemas.microsoft.com/office/drawing/2014/main" id="{0D7DF893-CDC1-A213-86BF-C9C73F979CC5}"/>
              </a:ext>
            </a:extLst>
          </p:cNvPr>
          <p:cNvSpPr>
            <a:spLocks noGrp="1"/>
          </p:cNvSpPr>
          <p:nvPr>
            <p:ph type="body" sz="quarter" idx="28"/>
          </p:nvPr>
        </p:nvSpPr>
        <p:spPr/>
        <p:txBody>
          <a:bodyPr/>
          <a:lstStyle/>
          <a:p>
            <a:endParaRPr lang="en-US" dirty="0"/>
          </a:p>
        </p:txBody>
      </p:sp>
      <p:sp>
        <p:nvSpPr>
          <p:cNvPr id="5" name="Text Placeholder 4">
            <a:extLst>
              <a:ext uri="{FF2B5EF4-FFF2-40B4-BE49-F238E27FC236}">
                <a16:creationId xmlns:a16="http://schemas.microsoft.com/office/drawing/2014/main" id="{AC2F0535-53EA-30FB-770D-0C92BEEF3F6D}"/>
              </a:ext>
            </a:extLst>
          </p:cNvPr>
          <p:cNvSpPr>
            <a:spLocks noGrp="1"/>
          </p:cNvSpPr>
          <p:nvPr>
            <p:ph type="body" sz="quarter" idx="14"/>
          </p:nvPr>
        </p:nvSpPr>
        <p:spPr/>
        <p:txBody>
          <a:bodyPr/>
          <a:lstStyle/>
          <a:p>
            <a:pPr lvl="0"/>
            <a:r>
              <a:rPr lang="en-US" dirty="0"/>
              <a:t>Step 2</a:t>
            </a:r>
          </a:p>
        </p:txBody>
      </p:sp>
      <p:sp>
        <p:nvSpPr>
          <p:cNvPr id="134" name="Text Placeholder 133">
            <a:extLst>
              <a:ext uri="{FF2B5EF4-FFF2-40B4-BE49-F238E27FC236}">
                <a16:creationId xmlns:a16="http://schemas.microsoft.com/office/drawing/2014/main" id="{9CE100CE-4574-F901-234D-B9BEED642B9B}"/>
              </a:ext>
            </a:extLst>
          </p:cNvPr>
          <p:cNvSpPr>
            <a:spLocks noGrp="1"/>
          </p:cNvSpPr>
          <p:nvPr>
            <p:ph type="body" sz="quarter" idx="29"/>
          </p:nvPr>
        </p:nvSpPr>
        <p:spPr/>
        <p:txBody>
          <a:bodyPr/>
          <a:lstStyle/>
          <a:p>
            <a:endParaRPr lang="en-US" dirty="0"/>
          </a:p>
        </p:txBody>
      </p:sp>
      <p:sp>
        <p:nvSpPr>
          <p:cNvPr id="7" name="Text Placeholder 6">
            <a:extLst>
              <a:ext uri="{FF2B5EF4-FFF2-40B4-BE49-F238E27FC236}">
                <a16:creationId xmlns:a16="http://schemas.microsoft.com/office/drawing/2014/main" id="{31511481-29C6-275B-963E-B5AF2E87ADA2}"/>
              </a:ext>
            </a:extLst>
          </p:cNvPr>
          <p:cNvSpPr>
            <a:spLocks noGrp="1"/>
          </p:cNvSpPr>
          <p:nvPr>
            <p:ph type="body" sz="quarter" idx="16"/>
          </p:nvPr>
        </p:nvSpPr>
        <p:spPr/>
        <p:txBody>
          <a:bodyPr/>
          <a:lstStyle/>
          <a:p>
            <a:pPr lvl="0"/>
            <a:r>
              <a:rPr lang="en-US" dirty="0"/>
              <a:t>Step 3</a:t>
            </a:r>
          </a:p>
        </p:txBody>
      </p:sp>
      <p:sp>
        <p:nvSpPr>
          <p:cNvPr id="135" name="Text Placeholder 134">
            <a:extLst>
              <a:ext uri="{FF2B5EF4-FFF2-40B4-BE49-F238E27FC236}">
                <a16:creationId xmlns:a16="http://schemas.microsoft.com/office/drawing/2014/main" id="{288EBDBE-0ABC-82CE-4598-09F65E315AD7}"/>
              </a:ext>
            </a:extLst>
          </p:cNvPr>
          <p:cNvSpPr>
            <a:spLocks noGrp="1"/>
          </p:cNvSpPr>
          <p:nvPr>
            <p:ph type="body" sz="quarter" idx="30"/>
          </p:nvPr>
        </p:nvSpPr>
        <p:spPr/>
        <p:txBody>
          <a:bodyPr/>
          <a:lstStyle/>
          <a:p>
            <a:endParaRPr lang="en-US" dirty="0"/>
          </a:p>
        </p:txBody>
      </p:sp>
      <p:sp>
        <p:nvSpPr>
          <p:cNvPr id="9" name="Text Placeholder 8">
            <a:extLst>
              <a:ext uri="{FF2B5EF4-FFF2-40B4-BE49-F238E27FC236}">
                <a16:creationId xmlns:a16="http://schemas.microsoft.com/office/drawing/2014/main" id="{2F32973A-CF94-1C2B-BB12-B563173CC79A}"/>
              </a:ext>
            </a:extLst>
          </p:cNvPr>
          <p:cNvSpPr>
            <a:spLocks noGrp="1"/>
          </p:cNvSpPr>
          <p:nvPr>
            <p:ph type="body" sz="quarter" idx="18"/>
          </p:nvPr>
        </p:nvSpPr>
        <p:spPr/>
        <p:txBody>
          <a:bodyPr/>
          <a:lstStyle/>
          <a:p>
            <a:pPr lvl="0"/>
            <a:r>
              <a:rPr lang="en-US" dirty="0"/>
              <a:t>Step 4</a:t>
            </a:r>
          </a:p>
        </p:txBody>
      </p:sp>
      <p:sp>
        <p:nvSpPr>
          <p:cNvPr id="136" name="Text Placeholder 135">
            <a:extLst>
              <a:ext uri="{FF2B5EF4-FFF2-40B4-BE49-F238E27FC236}">
                <a16:creationId xmlns:a16="http://schemas.microsoft.com/office/drawing/2014/main" id="{14F6CD04-2A18-A6BD-AAB9-1D30D1563399}"/>
              </a:ext>
            </a:extLst>
          </p:cNvPr>
          <p:cNvSpPr>
            <a:spLocks noGrp="1"/>
          </p:cNvSpPr>
          <p:nvPr>
            <p:ph type="body" sz="quarter" idx="31"/>
          </p:nvPr>
        </p:nvSpPr>
        <p:spPr/>
        <p:txBody>
          <a:bodyPr/>
          <a:lstStyle/>
          <a:p>
            <a:endParaRPr lang="en-US" dirty="0"/>
          </a:p>
        </p:txBody>
      </p:sp>
      <p:sp>
        <p:nvSpPr>
          <p:cNvPr id="11" name="Text Placeholder 10">
            <a:extLst>
              <a:ext uri="{FF2B5EF4-FFF2-40B4-BE49-F238E27FC236}">
                <a16:creationId xmlns:a16="http://schemas.microsoft.com/office/drawing/2014/main" id="{CE7AA813-84F0-DB50-F6B6-A29A94662DAD}"/>
              </a:ext>
            </a:extLst>
          </p:cNvPr>
          <p:cNvSpPr>
            <a:spLocks noGrp="1"/>
          </p:cNvSpPr>
          <p:nvPr>
            <p:ph type="body" sz="quarter" idx="20"/>
          </p:nvPr>
        </p:nvSpPr>
        <p:spPr/>
        <p:txBody>
          <a:bodyPr/>
          <a:lstStyle/>
          <a:p>
            <a:pPr lvl="0"/>
            <a:r>
              <a:rPr lang="en-US" dirty="0"/>
              <a:t>Step 5</a:t>
            </a:r>
          </a:p>
        </p:txBody>
      </p:sp>
      <p:sp>
        <p:nvSpPr>
          <p:cNvPr id="137" name="Text Placeholder 136">
            <a:extLst>
              <a:ext uri="{FF2B5EF4-FFF2-40B4-BE49-F238E27FC236}">
                <a16:creationId xmlns:a16="http://schemas.microsoft.com/office/drawing/2014/main" id="{C171CBDB-4593-F4D1-30E9-A47F4C7CADAF}"/>
              </a:ext>
            </a:extLst>
          </p:cNvPr>
          <p:cNvSpPr>
            <a:spLocks noGrp="1"/>
          </p:cNvSpPr>
          <p:nvPr>
            <p:ph type="body" sz="quarter" idx="32"/>
          </p:nvPr>
        </p:nvSpPr>
        <p:spPr/>
        <p:txBody>
          <a:bodyPr/>
          <a:lstStyle/>
          <a:p>
            <a:endParaRPr lang="en-US" dirty="0"/>
          </a:p>
        </p:txBody>
      </p:sp>
      <p:sp>
        <p:nvSpPr>
          <p:cNvPr id="69" name="Text Placeholder 68">
            <a:extLst>
              <a:ext uri="{FF2B5EF4-FFF2-40B4-BE49-F238E27FC236}">
                <a16:creationId xmlns:a16="http://schemas.microsoft.com/office/drawing/2014/main" id="{4BBDF45D-9B32-0154-7602-2C43DAF6C0A6}"/>
              </a:ext>
            </a:extLst>
          </p:cNvPr>
          <p:cNvSpPr>
            <a:spLocks noGrp="1"/>
          </p:cNvSpPr>
          <p:nvPr>
            <p:ph type="body" sz="quarter" idx="13"/>
          </p:nvPr>
        </p:nvSpPr>
        <p:spPr/>
        <p:txBody>
          <a:bodyPr/>
          <a:lstStyle/>
          <a:p>
            <a:r>
              <a:rPr lang="en-US" dirty="0"/>
              <a:t>Create account in </a:t>
            </a:r>
            <a:r>
              <a:rPr lang="en-US" dirty="0" err="1"/>
              <a:t>PortalHQ</a:t>
            </a:r>
            <a:endParaRPr lang="en-US" dirty="0"/>
          </a:p>
          <a:p>
            <a:endParaRPr lang="en-US" dirty="0"/>
          </a:p>
        </p:txBody>
      </p:sp>
      <p:sp>
        <p:nvSpPr>
          <p:cNvPr id="70" name="Text Placeholder 69">
            <a:extLst>
              <a:ext uri="{FF2B5EF4-FFF2-40B4-BE49-F238E27FC236}">
                <a16:creationId xmlns:a16="http://schemas.microsoft.com/office/drawing/2014/main" id="{38FF6C9F-C7C5-37D5-4C61-BA14A636B732}"/>
              </a:ext>
            </a:extLst>
          </p:cNvPr>
          <p:cNvSpPr>
            <a:spLocks noGrp="1"/>
          </p:cNvSpPr>
          <p:nvPr>
            <p:ph type="body" sz="quarter" idx="15"/>
          </p:nvPr>
        </p:nvSpPr>
        <p:spPr/>
        <p:txBody>
          <a:bodyPr/>
          <a:lstStyle/>
          <a:p>
            <a:r>
              <a:rPr lang="en-US" dirty="0"/>
              <a:t>Pay SaaS Fee</a:t>
            </a:r>
          </a:p>
          <a:p>
            <a:endParaRPr lang="en-US" dirty="0"/>
          </a:p>
        </p:txBody>
      </p:sp>
      <p:sp>
        <p:nvSpPr>
          <p:cNvPr id="71" name="Text Placeholder 70">
            <a:extLst>
              <a:ext uri="{FF2B5EF4-FFF2-40B4-BE49-F238E27FC236}">
                <a16:creationId xmlns:a16="http://schemas.microsoft.com/office/drawing/2014/main" id="{5973BD56-1612-983E-EA67-F4039B062085}"/>
              </a:ext>
            </a:extLst>
          </p:cNvPr>
          <p:cNvSpPr>
            <a:spLocks noGrp="1"/>
          </p:cNvSpPr>
          <p:nvPr>
            <p:ph type="body" sz="quarter" idx="17"/>
          </p:nvPr>
        </p:nvSpPr>
        <p:spPr/>
        <p:txBody>
          <a:bodyPr/>
          <a:lstStyle/>
          <a:p>
            <a:r>
              <a:rPr lang="en-US" dirty="0"/>
              <a:t>Invest in trusted businesses.</a:t>
            </a:r>
          </a:p>
          <a:p>
            <a:endParaRPr lang="en-US" dirty="0"/>
          </a:p>
        </p:txBody>
      </p:sp>
      <p:sp>
        <p:nvSpPr>
          <p:cNvPr id="72" name="Text Placeholder 71">
            <a:extLst>
              <a:ext uri="{FF2B5EF4-FFF2-40B4-BE49-F238E27FC236}">
                <a16:creationId xmlns:a16="http://schemas.microsoft.com/office/drawing/2014/main" id="{840CFADA-CAD6-2A04-5B15-5DB4DD6A84E0}"/>
              </a:ext>
            </a:extLst>
          </p:cNvPr>
          <p:cNvSpPr>
            <a:spLocks noGrp="1"/>
          </p:cNvSpPr>
          <p:nvPr>
            <p:ph type="body" sz="quarter" idx="19"/>
          </p:nvPr>
        </p:nvSpPr>
        <p:spPr/>
        <p:txBody>
          <a:bodyPr/>
          <a:lstStyle/>
          <a:p>
            <a:r>
              <a:rPr lang="en-US" dirty="0"/>
              <a:t>Better Client Management Relationship.</a:t>
            </a:r>
          </a:p>
          <a:p>
            <a:endParaRPr lang="en-US" dirty="0"/>
          </a:p>
        </p:txBody>
      </p:sp>
      <p:sp>
        <p:nvSpPr>
          <p:cNvPr id="73" name="Text Placeholder 72">
            <a:extLst>
              <a:ext uri="{FF2B5EF4-FFF2-40B4-BE49-F238E27FC236}">
                <a16:creationId xmlns:a16="http://schemas.microsoft.com/office/drawing/2014/main" id="{DB3347BB-2913-A230-8362-2B778394E7CE}"/>
              </a:ext>
            </a:extLst>
          </p:cNvPr>
          <p:cNvSpPr>
            <a:spLocks noGrp="1"/>
          </p:cNvSpPr>
          <p:nvPr>
            <p:ph type="body" sz="quarter" idx="21"/>
          </p:nvPr>
        </p:nvSpPr>
        <p:spPr/>
        <p:txBody>
          <a:bodyPr/>
          <a:lstStyle/>
          <a:p>
            <a:pPr lvl="0"/>
            <a:r>
              <a:rPr lang="en-US" dirty="0"/>
              <a:t>Set exponential growth goals.</a:t>
            </a:r>
          </a:p>
        </p:txBody>
      </p:sp>
    </p:spTree>
    <p:extLst>
      <p:ext uri="{BB962C8B-B14F-4D97-AF65-F5344CB8AC3E}">
        <p14:creationId xmlns:p14="http://schemas.microsoft.com/office/powerpoint/2010/main" val="3510130985"/>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CB2FD-42D1-E9F8-804E-37A1AD0F6CF0}"/>
              </a:ext>
            </a:extLst>
          </p:cNvPr>
          <p:cNvSpPr>
            <a:spLocks noGrp="1"/>
          </p:cNvSpPr>
          <p:nvPr>
            <p:ph type="title"/>
          </p:nvPr>
        </p:nvSpPr>
        <p:spPr>
          <a:xfrm>
            <a:off x="2066862" y="815776"/>
            <a:ext cx="9167195" cy="1069848"/>
          </a:xfrm>
        </p:spPr>
        <p:txBody>
          <a:bodyPr/>
          <a:lstStyle/>
          <a:p>
            <a:r>
              <a:rPr lang="en-US" dirty="0"/>
              <a:t>Future roadmap</a:t>
            </a:r>
          </a:p>
        </p:txBody>
      </p:sp>
      <p:sp>
        <p:nvSpPr>
          <p:cNvPr id="19" name="TextBox 18">
            <a:extLst>
              <a:ext uri="{FF2B5EF4-FFF2-40B4-BE49-F238E27FC236}">
                <a16:creationId xmlns:a16="http://schemas.microsoft.com/office/drawing/2014/main" id="{B5D44CD5-026C-FF25-6CEC-59814CC7952B}"/>
              </a:ext>
            </a:extLst>
          </p:cNvPr>
          <p:cNvSpPr txBox="1"/>
          <p:nvPr/>
        </p:nvSpPr>
        <p:spPr>
          <a:xfrm>
            <a:off x="2075057" y="1820636"/>
            <a:ext cx="3424464" cy="3816429"/>
          </a:xfrm>
          <a:prstGeom prst="rect">
            <a:avLst/>
          </a:prstGeom>
          <a:noFill/>
        </p:spPr>
        <p:txBody>
          <a:bodyPr wrap="none" rtlCol="0">
            <a:spAutoFit/>
          </a:bodyPr>
          <a:lstStyle/>
          <a:p>
            <a:r>
              <a:rPr lang="en-US" b="1" dirty="0">
                <a:solidFill>
                  <a:schemeClr val="bg1">
                    <a:lumMod val="95000"/>
                  </a:schemeClr>
                </a:solidFill>
              </a:rPr>
              <a:t>Enterprise Security</a:t>
            </a:r>
          </a:p>
          <a:p>
            <a:r>
              <a:rPr lang="en-US" sz="1600" dirty="0">
                <a:solidFill>
                  <a:schemeClr val="bg1">
                    <a:lumMod val="95000"/>
                  </a:schemeClr>
                </a:solidFill>
              </a:rPr>
              <a:t>SSO, MFA &amp; advanced access control</a:t>
            </a:r>
          </a:p>
          <a:p>
            <a:endParaRPr lang="en-US" dirty="0">
              <a:solidFill>
                <a:schemeClr val="bg1">
                  <a:lumMod val="95000"/>
                </a:schemeClr>
              </a:solidFill>
            </a:endParaRPr>
          </a:p>
          <a:p>
            <a:r>
              <a:rPr lang="en-US" b="1" dirty="0">
                <a:solidFill>
                  <a:schemeClr val="bg1">
                    <a:lumMod val="95000"/>
                  </a:schemeClr>
                </a:solidFill>
              </a:rPr>
              <a:t>Custom Integrations</a:t>
            </a:r>
          </a:p>
          <a:p>
            <a:r>
              <a:rPr lang="en-US" sz="1600" dirty="0">
                <a:solidFill>
                  <a:schemeClr val="bg1">
                    <a:lumMod val="95000"/>
                  </a:schemeClr>
                </a:solidFill>
              </a:rPr>
              <a:t>Connect with existing business tools</a:t>
            </a:r>
          </a:p>
          <a:p>
            <a:endParaRPr lang="en-US" dirty="0">
              <a:solidFill>
                <a:schemeClr val="bg1">
                  <a:lumMod val="95000"/>
                </a:schemeClr>
              </a:solidFill>
            </a:endParaRPr>
          </a:p>
          <a:p>
            <a:r>
              <a:rPr lang="en-US" b="1" dirty="0">
                <a:solidFill>
                  <a:schemeClr val="bg1">
                    <a:lumMod val="95000"/>
                  </a:schemeClr>
                </a:solidFill>
              </a:rPr>
              <a:t>AI-Powered Automation</a:t>
            </a:r>
          </a:p>
          <a:p>
            <a:r>
              <a:rPr lang="en-US" sz="1600" dirty="0">
                <a:solidFill>
                  <a:schemeClr val="bg1">
                    <a:lumMod val="95000"/>
                  </a:schemeClr>
                </a:solidFill>
              </a:rPr>
              <a:t>Smart summaries, search &amp; workflows</a:t>
            </a:r>
          </a:p>
          <a:p>
            <a:endParaRPr lang="en-US" dirty="0">
              <a:solidFill>
                <a:schemeClr val="bg1">
                  <a:lumMod val="95000"/>
                </a:schemeClr>
              </a:solidFill>
            </a:endParaRPr>
          </a:p>
          <a:p>
            <a:r>
              <a:rPr lang="en-US" b="1" dirty="0">
                <a:solidFill>
                  <a:schemeClr val="bg1">
                    <a:lumMod val="95000"/>
                  </a:schemeClr>
                </a:solidFill>
              </a:rPr>
              <a:t>Advanced Analytics</a:t>
            </a:r>
          </a:p>
          <a:p>
            <a:r>
              <a:rPr lang="en-US" sz="1600" dirty="0">
                <a:solidFill>
                  <a:schemeClr val="bg1">
                    <a:lumMod val="95000"/>
                  </a:schemeClr>
                </a:solidFill>
              </a:rPr>
              <a:t>Business, project &amp; inventory insights</a:t>
            </a:r>
          </a:p>
          <a:p>
            <a:endParaRPr lang="en-US" dirty="0">
              <a:solidFill>
                <a:schemeClr val="bg1">
                  <a:lumMod val="95000"/>
                </a:schemeClr>
              </a:solidFill>
            </a:endParaRPr>
          </a:p>
          <a:p>
            <a:r>
              <a:rPr lang="en-US" b="1" dirty="0">
                <a:solidFill>
                  <a:schemeClr val="bg1">
                    <a:lumMod val="95000"/>
                  </a:schemeClr>
                </a:solidFill>
              </a:rPr>
              <a:t>Mobile Application</a:t>
            </a:r>
          </a:p>
          <a:p>
            <a:r>
              <a:rPr lang="en-US" sz="1600" dirty="0">
                <a:solidFill>
                  <a:schemeClr val="bg1">
                    <a:lumMod val="95000"/>
                  </a:schemeClr>
                </a:solidFill>
              </a:rPr>
              <a:t>Manage business activities anywhere</a:t>
            </a:r>
          </a:p>
        </p:txBody>
      </p:sp>
    </p:spTree>
    <p:extLst>
      <p:ext uri="{BB962C8B-B14F-4D97-AF65-F5344CB8AC3E}">
        <p14:creationId xmlns:p14="http://schemas.microsoft.com/office/powerpoint/2010/main" val="2594072333"/>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BBEA5B-672E-8848-C12F-54FF739F6BA6}"/>
              </a:ext>
            </a:extLst>
          </p:cNvPr>
          <p:cNvSpPr>
            <a:spLocks noGrp="1"/>
          </p:cNvSpPr>
          <p:nvPr>
            <p:ph type="ctrTitle"/>
          </p:nvPr>
        </p:nvSpPr>
        <p:spPr/>
        <p:txBody>
          <a:bodyPr/>
          <a:lstStyle/>
          <a:p>
            <a:r>
              <a:rPr lang="en-US" dirty="0"/>
              <a:t>Reference</a:t>
            </a:r>
          </a:p>
        </p:txBody>
      </p:sp>
      <p:sp>
        <p:nvSpPr>
          <p:cNvPr id="5" name="Subtitle 4">
            <a:extLst>
              <a:ext uri="{FF2B5EF4-FFF2-40B4-BE49-F238E27FC236}">
                <a16:creationId xmlns:a16="http://schemas.microsoft.com/office/drawing/2014/main" id="{EE20AF70-938A-9EA3-ACF7-560EB5DC44DD}"/>
              </a:ext>
            </a:extLst>
          </p:cNvPr>
          <p:cNvSpPr>
            <a:spLocks noGrp="1"/>
          </p:cNvSpPr>
          <p:nvPr>
            <p:ph type="subTitle" idx="1"/>
          </p:nvPr>
        </p:nvSpPr>
        <p:spPr>
          <a:xfrm>
            <a:off x="2228088" y="3685031"/>
            <a:ext cx="7735824" cy="1654411"/>
          </a:xfrm>
        </p:spPr>
        <p:txBody>
          <a:bodyPr/>
          <a:lstStyle/>
          <a:p>
            <a:pPr algn="l"/>
            <a:r>
              <a:rPr lang="en-GB" dirty="0"/>
              <a:t>IEEE Std 830-1998, IEEE Recommended Practice for Software Requirements Specifications.</a:t>
            </a:r>
          </a:p>
          <a:p>
            <a:pPr algn="l"/>
            <a:r>
              <a:rPr lang="en-GB" dirty="0"/>
              <a:t>Internal team planning notes and requirement discussions, 2026.</a:t>
            </a:r>
          </a:p>
          <a:p>
            <a:pPr algn="l"/>
            <a:r>
              <a:rPr lang="en-GB" dirty="0"/>
              <a:t>Course guidelines for the Software Project Design and Development Lab.</a:t>
            </a:r>
            <a:endParaRPr lang="en-US" dirty="0"/>
          </a:p>
        </p:txBody>
      </p:sp>
    </p:spTree>
    <p:extLst>
      <p:ext uri="{BB962C8B-B14F-4D97-AF65-F5344CB8AC3E}">
        <p14:creationId xmlns:p14="http://schemas.microsoft.com/office/powerpoint/2010/main" val="143629155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BC92-868A-26B2-CBC0-C9D94E65F1A4}"/>
              </a:ext>
            </a:extLst>
          </p:cNvPr>
          <p:cNvSpPr>
            <a:spLocks noGrp="1"/>
          </p:cNvSpPr>
          <p:nvPr>
            <p:ph type="ctrTitle"/>
          </p:nvPr>
        </p:nvSpPr>
        <p:spPr/>
        <p:txBody>
          <a:bodyPr/>
          <a:lstStyle/>
          <a:p>
            <a:r>
              <a:rPr lang="en-US" sz="4000" b="1" spc="600" dirty="0">
                <a:ln w="28575">
                  <a:noFill/>
                  <a:prstDash val="solid"/>
                </a:ln>
                <a:solidFill>
                  <a:schemeClr val="bg1"/>
                </a:solidFill>
                <a:latin typeface="Tw Cen MT" panose="020B0602020104020603" pitchFamily="34" charset="77"/>
                <a:ea typeface="Verdana" panose="020B0604030504040204" pitchFamily="34" charset="0"/>
                <a:cs typeface="Verdana" panose="020B0604030504040204" pitchFamily="34" charset="0"/>
              </a:rPr>
              <a:t>SUMMARY</a:t>
            </a:r>
            <a:endParaRPr lang="en-US" dirty="0"/>
          </a:p>
        </p:txBody>
      </p:sp>
      <p:sp>
        <p:nvSpPr>
          <p:cNvPr id="3" name="Subtitle 2">
            <a:extLst>
              <a:ext uri="{FF2B5EF4-FFF2-40B4-BE49-F238E27FC236}">
                <a16:creationId xmlns:a16="http://schemas.microsoft.com/office/drawing/2014/main" id="{6F9C1627-7A56-025E-482D-E2AB014EDF92}"/>
              </a:ext>
            </a:extLst>
          </p:cNvPr>
          <p:cNvSpPr>
            <a:spLocks noGrp="1"/>
          </p:cNvSpPr>
          <p:nvPr>
            <p:ph type="subTitle" idx="1"/>
          </p:nvPr>
        </p:nvSpPr>
        <p:spPr/>
        <p:txBody>
          <a:bodyPr/>
          <a:lstStyle/>
          <a:p>
            <a:r>
              <a:rPr lang="en-GB" dirty="0"/>
              <a:t>Existing platforms demonstrate strong demand for client portals, but </a:t>
            </a:r>
            <a:r>
              <a:rPr lang="en-GB" dirty="0" err="1"/>
              <a:t>PortalHQ</a:t>
            </a:r>
            <a:r>
              <a:rPr lang="en-GB" dirty="0"/>
              <a:t> explores a more SME-oriented model that combines client collaboration with operational asset and inventory workflows in a unified platform</a:t>
            </a:r>
            <a:endParaRPr lang="en-US" dirty="0"/>
          </a:p>
        </p:txBody>
      </p:sp>
    </p:spTree>
    <p:extLst>
      <p:ext uri="{BB962C8B-B14F-4D97-AF65-F5344CB8AC3E}">
        <p14:creationId xmlns:p14="http://schemas.microsoft.com/office/powerpoint/2010/main" val="1958759625"/>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9E2661-9AB4-D578-2518-51DD6EC90FA2}"/>
              </a:ext>
            </a:extLst>
          </p:cNvPr>
          <p:cNvSpPr>
            <a:spLocks noGrp="1"/>
          </p:cNvSpPr>
          <p:nvPr>
            <p:ph type="ctrTitle"/>
          </p:nvPr>
        </p:nvSpPr>
        <p:spPr/>
        <p:txBody>
          <a:bodyPr/>
          <a:lstStyle/>
          <a:p>
            <a:r>
              <a:rPr lang="en-US" dirty="0"/>
              <a:t>Meet Our Team</a:t>
            </a:r>
          </a:p>
        </p:txBody>
      </p:sp>
      <p:sp>
        <p:nvSpPr>
          <p:cNvPr id="6" name="Text Placeholder 5">
            <a:extLst>
              <a:ext uri="{FF2B5EF4-FFF2-40B4-BE49-F238E27FC236}">
                <a16:creationId xmlns:a16="http://schemas.microsoft.com/office/drawing/2014/main" id="{BD4F5B30-9917-3270-8B55-D22D5EFBF08A}"/>
              </a:ext>
            </a:extLst>
          </p:cNvPr>
          <p:cNvSpPr>
            <a:spLocks noGrp="1"/>
          </p:cNvSpPr>
          <p:nvPr>
            <p:ph type="subTitle" idx="1"/>
          </p:nvPr>
        </p:nvSpPr>
        <p:spPr>
          <a:xfrm>
            <a:off x="2228088" y="3685031"/>
            <a:ext cx="7735824" cy="1319675"/>
          </a:xfrm>
        </p:spPr>
        <p:txBody>
          <a:bodyPr/>
          <a:lstStyle/>
          <a:p>
            <a:r>
              <a:rPr lang="en-US" dirty="0"/>
              <a:t>MD. </a:t>
            </a:r>
            <a:r>
              <a:rPr lang="en-US" dirty="0" err="1"/>
              <a:t>Zul-kijlee</a:t>
            </a:r>
            <a:r>
              <a:rPr lang="en-US" dirty="0"/>
              <a:t> Rahman </a:t>
            </a:r>
            <a:r>
              <a:rPr lang="en-US" dirty="0" err="1"/>
              <a:t>Tapadar</a:t>
            </a:r>
            <a:r>
              <a:rPr lang="en-US" dirty="0"/>
              <a:t> – 04324205101002</a:t>
            </a:r>
            <a:br>
              <a:rPr lang="en-US" dirty="0"/>
            </a:br>
            <a:r>
              <a:rPr lang="en-US" dirty="0" err="1"/>
              <a:t>Khadijatul</a:t>
            </a:r>
            <a:r>
              <a:rPr lang="en-US" dirty="0"/>
              <a:t> Kubra – 04324205101006</a:t>
            </a:r>
            <a:br>
              <a:rPr lang="en-US" dirty="0"/>
            </a:br>
            <a:r>
              <a:rPr lang="en-US" dirty="0"/>
              <a:t>Mohammad Mutakabbir Hossain – 04324205101007</a:t>
            </a:r>
            <a:br>
              <a:rPr lang="en-US" dirty="0"/>
            </a:br>
            <a:r>
              <a:rPr lang="en-US" dirty="0" err="1"/>
              <a:t>Badhon</a:t>
            </a:r>
            <a:r>
              <a:rPr lang="en-US" dirty="0"/>
              <a:t> Kumar Roy - 04324205101042</a:t>
            </a:r>
          </a:p>
        </p:txBody>
      </p:sp>
    </p:spTree>
    <p:extLst>
      <p:ext uri="{BB962C8B-B14F-4D97-AF65-F5344CB8AC3E}">
        <p14:creationId xmlns:p14="http://schemas.microsoft.com/office/powerpoint/2010/main" val="1380098565"/>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a:xfrm>
            <a:off x="5306780" y="1717439"/>
            <a:ext cx="4718304" cy="1069848"/>
          </a:xfrm>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a:xfrm>
            <a:off x="4612821" y="3374136"/>
            <a:ext cx="7094765" cy="2395728"/>
          </a:xfrm>
        </p:spPr>
        <p:txBody>
          <a:bodyPr/>
          <a:lstStyle/>
          <a:p>
            <a:pPr algn="l"/>
            <a:r>
              <a:rPr lang="en-GB" b="1" i="0" dirty="0">
                <a:solidFill>
                  <a:srgbClr val="921E33"/>
                </a:solidFill>
                <a:effectLst/>
                <a:latin typeface="Poppins" panose="00000500000000000000" pitchFamily="2" charset="0"/>
              </a:rPr>
              <a:t/>
            </a:r>
            <a:br>
              <a:rPr lang="en-GB" b="1" i="0" dirty="0">
                <a:solidFill>
                  <a:srgbClr val="921E33"/>
                </a:solidFill>
                <a:effectLst/>
                <a:latin typeface="Poppins" panose="00000500000000000000" pitchFamily="2" charset="0"/>
              </a:rPr>
            </a:br>
            <a:r>
              <a:rPr lang="en-GB" b="1" i="0" dirty="0">
                <a:solidFill>
                  <a:srgbClr val="921E33"/>
                </a:solidFill>
                <a:effectLst/>
                <a:latin typeface="Poppins" panose="00000500000000000000" pitchFamily="2" charset="0"/>
              </a:rPr>
              <a:t>Engineer Md. </a:t>
            </a:r>
            <a:r>
              <a:rPr lang="en-GB" b="1" i="0" dirty="0" err="1">
                <a:solidFill>
                  <a:srgbClr val="921E33"/>
                </a:solidFill>
                <a:effectLst/>
                <a:latin typeface="Poppins" panose="00000500000000000000" pitchFamily="2" charset="0"/>
              </a:rPr>
              <a:t>Safaet</a:t>
            </a:r>
            <a:r>
              <a:rPr lang="en-GB" b="1" i="0" dirty="0">
                <a:solidFill>
                  <a:srgbClr val="921E33"/>
                </a:solidFill>
                <a:effectLst/>
                <a:latin typeface="Poppins" panose="00000500000000000000" pitchFamily="2" charset="0"/>
              </a:rPr>
              <a:t> Hossain</a:t>
            </a:r>
          </a:p>
          <a:p>
            <a:pPr algn="l"/>
            <a:r>
              <a:rPr lang="en-GB" sz="1600" b="0" i="0" dirty="0">
                <a:effectLst/>
                <a:latin typeface="Poppins" panose="00000500000000000000" pitchFamily="2" charset="0"/>
              </a:rPr>
              <a:t>Associate Professor &amp; Director, Institutional Quality Assurance Cell</a:t>
            </a:r>
          </a:p>
          <a:p>
            <a:pPr algn="l"/>
            <a:r>
              <a:rPr lang="en-GB" sz="1600" b="0" i="0" dirty="0">
                <a:effectLst/>
                <a:latin typeface="Poppins" panose="00000500000000000000" pitchFamily="2" charset="0"/>
              </a:rPr>
              <a:t>Director, Institutional Quality Assurance Cell (IQAC) and Associate Professor, Department of Computer Science &amp; Engineering (CSE) University of Information Technology and Sciences (UITS)</a:t>
            </a:r>
            <a:endParaRPr lang="en-GB" sz="1400" b="0" i="0" dirty="0">
              <a:effectLst/>
              <a:latin typeface="Poppins" panose="00000500000000000000" pitchFamily="2" charset="0"/>
            </a:endParaRPr>
          </a:p>
          <a:p>
            <a:pPr algn="l"/>
            <a:r>
              <a:rPr lang="en-US" dirty="0">
                <a:latin typeface="Segoe UI Light" panose="020B0502040204020203" pitchFamily="34" charset="0"/>
                <a:ea typeface="Calibri"/>
                <a:cs typeface="Segoe UI Light" panose="020B0502040204020203" pitchFamily="34" charset="0"/>
              </a:rPr>
              <a:t/>
            </a:r>
            <a:br>
              <a:rPr lang="en-US" dirty="0">
                <a:latin typeface="Segoe UI Light" panose="020B0502040204020203" pitchFamily="34" charset="0"/>
                <a:ea typeface="Calibri"/>
                <a:cs typeface="Segoe UI Light" panose="020B0502040204020203" pitchFamily="34" charset="0"/>
              </a:rPr>
            </a:br>
            <a:endParaRPr lang="en-US" dirty="0">
              <a:latin typeface="Segoe UI Light" panose="020B0502040204020203" pitchFamily="34" charset="0"/>
              <a:ea typeface="Calibri"/>
              <a:cs typeface="Segoe UI Light" panose="020B0502040204020203" pitchFamily="34" charset="0"/>
            </a:endParaRPr>
          </a:p>
          <a:p>
            <a:endParaRPr lang="en-US" dirty="0"/>
          </a:p>
        </p:txBody>
      </p:sp>
    </p:spTree>
    <p:extLst>
      <p:ext uri="{BB962C8B-B14F-4D97-AF65-F5344CB8AC3E}">
        <p14:creationId xmlns:p14="http://schemas.microsoft.com/office/powerpoint/2010/main" val="1877701230"/>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750">
        <p159:morph option="byWord"/>
      </p:transition>
    </mc:Choice>
    <mc:Fallback>
      <p:transition spd="slow">
        <p:fade/>
      </p:transition>
    </mc:Fallback>
  </mc:AlternateContent>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B8ECF1-2A9D-464C-AFE8-2B3295D0BF97}">
  <ds:schemaRefs>
    <ds:schemaRef ds:uri="http://schemas.microsoft.com/office/2006/documentManagement/types"/>
    <ds:schemaRef ds:uri="230e9df3-be65-4c73-a93b-d1236ebd677e"/>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http://schemas.microsoft.com/sharepoint/v3"/>
    <ds:schemaRef ds:uri="16c05727-aa75-4e4a-9b5f-8a80a1165891"/>
    <ds:schemaRef ds:uri="http://purl.org/dc/terms/"/>
    <ds:schemaRef ds:uri="71af3243-3dd4-4a8d-8c0d-dd76da1f02a5"/>
    <ds:schemaRef ds:uri="http://www.w3.org/XML/1998/namespace"/>
    <ds:schemaRef ds:uri="http://purl.org/dc/dcmitype/"/>
  </ds:schemaRefs>
</ds:datastoreItem>
</file>

<file path=customXml/itemProps2.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1F1912-3146-44AF-A389-9E8B77BB368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400</TotalTime>
  <Words>735</Words>
  <Application>Microsoft Office PowerPoint</Application>
  <PresentationFormat>Widescreen</PresentationFormat>
  <Paragraphs>199</Paragraphs>
  <Slides>18</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vt:i4>
      </vt:variant>
    </vt:vector>
  </HeadingPairs>
  <TitlesOfParts>
    <vt:vector size="31" baseType="lpstr">
      <vt:lpstr>Arial</vt:lpstr>
      <vt:lpstr>Calibri</vt:lpstr>
      <vt:lpstr>Courier New</vt:lpstr>
      <vt:lpstr>Nunito</vt:lpstr>
      <vt:lpstr>Poppins</vt:lpstr>
      <vt:lpstr>Roboto</vt:lpstr>
      <vt:lpstr>Segoe UI</vt:lpstr>
      <vt:lpstr>Segoe UI Light</vt:lpstr>
      <vt:lpstr>Source Sans Pro</vt:lpstr>
      <vt:lpstr>Source Sans Pro Topnav</vt:lpstr>
      <vt:lpstr>Tw Cen MT</vt:lpstr>
      <vt:lpstr>Verdana</vt:lpstr>
      <vt:lpstr>Office Theme</vt:lpstr>
      <vt:lpstr>PortalHQ: Client Portal OS</vt:lpstr>
      <vt:lpstr>CONTENTS</vt:lpstr>
      <vt:lpstr>INTRODUCTION</vt:lpstr>
      <vt:lpstr>Why PortalHQ</vt:lpstr>
      <vt:lpstr>System Objectives</vt:lpstr>
      <vt:lpstr>Who Uses Portalhq</vt:lpstr>
      <vt:lpstr>What's In Scope — and What's Next</vt:lpstr>
      <vt:lpstr>Client Workspace Features</vt:lpstr>
      <vt:lpstr>Business Operation Features</vt:lpstr>
      <vt:lpstr>Software Comparison</vt:lpstr>
      <vt:lpstr>Technical Requirements</vt:lpstr>
      <vt:lpstr>How you gather, manage and use information will determine whether you loss or win. </vt:lpstr>
      <vt:lpstr>Business Growth</vt:lpstr>
      <vt:lpstr>Future roadmap</vt:lpstr>
      <vt:lpstr>Reference</vt:lpstr>
      <vt:lpstr>SUMMARY</vt:lpstr>
      <vt:lpstr>Meet Our Team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PortalHQ</dc:title>
  <dc:creator>Mutakabbir</dc:creator>
  <cp:keywords>ID 04324205101007</cp:keywords>
  <cp:lastModifiedBy>Khadija</cp:lastModifiedBy>
  <cp:revision>9</cp:revision>
  <dcterms:created xsi:type="dcterms:W3CDTF">2026-08-10T18:59:31Z</dcterms:created>
  <dcterms:modified xsi:type="dcterms:W3CDTF">2026-08-11T21:46:08Z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